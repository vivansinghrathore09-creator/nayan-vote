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6858000" cy="2926080"/>
          </a:xfrm>
          <a:prstGeom prst="rect">
            <a:avLst/>
          </a:prstGeom>
          <a:noFill/>
        </p:spPr>
        <p:txBody>
          <a:bodyPr wrap="square">
            <a:spAutoFit/>
          </a:bodyPr>
          <a:lstStyle/>
          <a:p>
            <a:pPr>
              <a:spcAft>
                <a:spcPts val="1200"/>
              </a:spcAft>
              <a:defRPr sz="1100" b="1">
                <a:solidFill>
                  <a:srgbClr val="00F2FE"/>
                </a:solidFill>
                <a:latin typeface="Trebuchet MS"/>
              </a:defRPr>
            </a:pPr>
            <a:r>
              <a:t>CIVIC UX/UI MASTER CASE STUDY</a:t>
            </a:r>
          </a:p>
          <a:p>
            <a:pPr>
              <a:spcAft>
                <a:spcPts val="800"/>
              </a:spcAft>
              <a:defRPr sz="3800" b="1">
                <a:solidFill>
                  <a:srgbClr val="FFFFFF"/>
                </a:solidFill>
                <a:latin typeface="Trebuchet MS"/>
              </a:defRPr>
            </a:pPr>
            <a:r>
              <a:t>NAYAN VOTE (नयन वोट)</a:t>
            </a:r>
          </a:p>
          <a:p>
            <a:pPr>
              <a:spcAft>
                <a:spcPts val="1400"/>
              </a:spcAft>
              <a:defRPr sz="1400">
                <a:solidFill>
                  <a:srgbClr val="38BDF8"/>
                </a:solidFill>
                <a:latin typeface="Segoe UI"/>
              </a:defRPr>
            </a:pPr>
            <a:r>
              <a:t>India's Touchless Biometric Iris-Scanning E-Voting Kiosk for 1 Billion Citizens</a:t>
            </a:r>
          </a:p>
          <a:p>
            <a:pPr>
              <a:defRPr sz="1000">
                <a:solidFill>
                  <a:srgbClr val="94A3B8"/>
                </a:solidFill>
                <a:latin typeface="Segoe UI"/>
              </a:defRPr>
            </a:pPr>
            <a:r>
              <a:t>An end-to-end civic design system engineered through the 6D Design Thinking Process: Discover, Define, Dream, Design, Develop, and Deliver. Solves voter impersonation, 1-3 hour wait times, lost ID cards, and voter exclusion.</a:t>
            </a:r>
          </a:p>
        </p:txBody>
      </p:sp>
      <p:sp>
        <p:nvSpPr>
          <p:cNvPr id="4" name="Rounded Rectangle 3"/>
          <p:cNvSpPr/>
          <p:nvPr/>
        </p:nvSpPr>
        <p:spPr>
          <a:xfrm>
            <a:off x="731520" y="4297680"/>
            <a:ext cx="6583680" cy="1645920"/>
          </a:xfrm>
          <a:prstGeom prst="roundRect">
            <a:avLst/>
          </a:prstGeom>
          <a:solidFill>
            <a:srgbClr val="141D2F"/>
          </a:solidFill>
          <a:ln>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spcAft>
                <a:spcPts val="600"/>
              </a:spcAft>
              <a:defRPr sz="900" b="1">
                <a:solidFill>
                  <a:srgbClr val="00F2FE"/>
                </a:solidFill>
                <a:latin typeface="Consolas"/>
              </a:defRPr>
            </a:pPr>
            <a:r>
              <a:t>PROJECT METADATA &amp; CIVIC BENCHMARKS</a:t>
            </a:r>
          </a:p>
          <a:p>
            <a:pPr>
              <a:spcAft>
                <a:spcPts val="200"/>
              </a:spcAft>
              <a:defRPr sz="880">
                <a:solidFill>
                  <a:srgbClr val="E2E8F0"/>
                </a:solidFill>
                <a:latin typeface="Segoe UI"/>
              </a:defRPr>
            </a:pPr>
            <a:r>
              <a:t>• Target Population: 968 Million Eligible Indian Voters across 1.2M Polling Stations</a:t>
            </a:r>
          </a:p>
          <a:p>
            <a:pPr>
              <a:spcAft>
                <a:spcPts val="200"/>
              </a:spcAft>
              <a:defRPr sz="880">
                <a:solidFill>
                  <a:srgbClr val="E2E8F0"/>
                </a:solidFill>
                <a:latin typeface="Segoe UI"/>
              </a:defRPr>
            </a:pPr>
            <a:r>
              <a:t>• Design Methodology: 6D Design Thinking Framework &amp; Omnichannel Service Blueprint</a:t>
            </a:r>
          </a:p>
          <a:p>
            <a:pPr>
              <a:spcAft>
                <a:spcPts val="200"/>
              </a:spcAft>
              <a:defRPr sz="880">
                <a:solidFill>
                  <a:srgbClr val="E2E8F0"/>
                </a:solidFill>
                <a:latin typeface="Segoe UI"/>
              </a:defRPr>
            </a:pPr>
            <a:r>
              <a:t>• Multimodal Scope: Touch + Natural Voice Interaction in 9 Major Indian Languages</a:t>
            </a:r>
          </a:p>
          <a:p>
            <a:pPr>
              <a:spcAft>
                <a:spcPts val="200"/>
              </a:spcAft>
              <a:defRPr sz="880">
                <a:solidFill>
                  <a:srgbClr val="E2E8F0"/>
                </a:solidFill>
                <a:latin typeface="Segoe UI"/>
              </a:defRPr>
            </a:pPr>
            <a:r>
              <a:t>• Accessibility: 100% Unassisted Voting for Disabled &amp; Illiterate Citizens (WCAG 2.1 AAA)</a:t>
            </a:r>
          </a:p>
          <a:p>
            <a:pPr>
              <a:spcAft>
                <a:spcPts val="200"/>
              </a:spcAft>
              <a:defRPr sz="880">
                <a:solidFill>
                  <a:srgbClr val="E2E8F0"/>
                </a:solidFill>
                <a:latin typeface="Segoe UI"/>
              </a:defRPr>
            </a:pPr>
            <a:r>
              <a:t>• Security: Air-gapped Offline Cryptography with UIDAI Aadhaar Iris Benchmark</a:t>
            </a:r>
          </a:p>
        </p:txBody>
      </p:sp>
      <p:sp>
        <p:nvSpPr>
          <p:cNvPr id="5" name="Rounded Rectangle 4"/>
          <p:cNvSpPr/>
          <p:nvPr/>
        </p:nvSpPr>
        <p:spPr>
          <a:xfrm>
            <a:off x="7680960" y="1097280"/>
            <a:ext cx="3749039" cy="4846320"/>
          </a:xfrm>
          <a:prstGeom prst="roundRect">
            <a:avLst/>
          </a:prstGeom>
          <a:solidFill>
            <a:srgbClr val="141D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kiosk_hardware.jpg"/>
          <p:cNvPicPr>
            <a:picLocks noChangeAspect="1"/>
          </p:cNvPicPr>
          <p:nvPr/>
        </p:nvPicPr>
        <p:blipFill>
          <a:blip r:embed="rId2"/>
          <a:stretch>
            <a:fillRect/>
          </a:stretch>
        </p:blipFill>
        <p:spPr>
          <a:xfrm>
            <a:off x="7754112" y="1170432"/>
            <a:ext cx="3602735" cy="4206240"/>
          </a:xfrm>
          <a:prstGeom prst="rect">
            <a:avLst/>
          </a:prstGeom>
        </p:spPr>
      </p:pic>
      <p:sp>
        <p:nvSpPr>
          <p:cNvPr id="7" name="TextBox 6"/>
          <p:cNvSpPr txBox="1"/>
          <p:nvPr/>
        </p:nvSpPr>
        <p:spPr>
          <a:xfrm>
            <a:off x="7772400" y="5349240"/>
            <a:ext cx="3566159" cy="502920"/>
          </a:xfrm>
          <a:prstGeom prst="rect">
            <a:avLst/>
          </a:prstGeom>
          <a:noFill/>
        </p:spPr>
        <p:txBody>
          <a:bodyPr wrap="square">
            <a:spAutoFit/>
          </a:bodyPr>
          <a:lstStyle/>
          <a:p>
            <a:pPr>
              <a:defRPr sz="950" b="1">
                <a:solidFill>
                  <a:srgbClr val="FFFFFF"/>
                </a:solidFill>
                <a:latin typeface="Trebuchet MS"/>
              </a:defRPr>
            </a:pPr>
            <a:r>
              <a:t>Nayan Vote Ergonomic Kiosk Hardware</a:t>
            </a:r>
          </a:p>
          <a:p>
            <a:pPr>
              <a:defRPr sz="750">
                <a:solidFill>
                  <a:srgbClr val="94A3B8"/>
                </a:solidFill>
                <a:latin typeface="Segoe UI"/>
              </a:defRPr>
            </a:pPr>
            <a:r>
              <a:t>16:9 Landscape touch display, dual near-IR iris scanner, directional speakers &amp; thermal VVPAT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EXECUTIVE SUMMARY</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Project Context: Transforming Indian Civic Democracy</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Overcoming systemic bottlenecks in the world's largest democratic electoral exercise.</a:t>
            </a:r>
          </a:p>
        </p:txBody>
      </p:sp>
      <p:sp>
        <p:nvSpPr>
          <p:cNvPr id="6" name="Rounded Rectangle 5"/>
          <p:cNvSpPr/>
          <p:nvPr/>
        </p:nvSpPr>
        <p:spPr>
          <a:xfrm>
            <a:off x="731520" y="1645920"/>
            <a:ext cx="3383280" cy="4389120"/>
          </a:xfrm>
          <a:prstGeom prst="roundRect">
            <a:avLst/>
          </a:prstGeom>
          <a:solidFill>
            <a:srgbClr val="141D2F"/>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EF4444"/>
                </a:solidFill>
                <a:latin typeface="Consolas"/>
              </a:defRPr>
            </a:pPr>
            <a:r>
              <a:t>[CONTEXT]</a:t>
            </a:r>
          </a:p>
          <a:p>
            <a:pPr>
              <a:spcAft>
                <a:spcPts val="400"/>
              </a:spcAft>
              <a:defRPr sz="1150" b="1">
                <a:solidFill>
                  <a:srgbClr val="FFFFFF"/>
                </a:solidFill>
                <a:latin typeface="Trebuchet MS"/>
              </a:defRPr>
            </a:pPr>
            <a:r>
              <a:t>The Electoral Challenge</a:t>
            </a:r>
          </a:p>
          <a:p>
            <a:pPr>
              <a:spcAft>
                <a:spcPts val="250"/>
              </a:spcAft>
              <a:defRPr sz="880">
                <a:solidFill>
                  <a:srgbClr val="E2E8F0"/>
                </a:solidFill>
                <a:latin typeface="Segoe UI"/>
              </a:defRPr>
            </a:pPr>
            <a:r>
              <a:t>• 968+ Million registered voters across 28 states and 8 union territories.</a:t>
            </a:r>
          </a:p>
          <a:p>
            <a:pPr>
              <a:spcAft>
                <a:spcPts val="250"/>
              </a:spcAft>
              <a:defRPr sz="880">
                <a:solidFill>
                  <a:srgbClr val="E2E8F0"/>
                </a:solidFill>
                <a:latin typeface="Segoe UI"/>
              </a:defRPr>
            </a:pPr>
            <a:r>
              <a:t>• Current general elections cost over $7 Billion USD (₹60,000+ Crore).</a:t>
            </a:r>
          </a:p>
          <a:p>
            <a:pPr>
              <a:spcAft>
                <a:spcPts val="250"/>
              </a:spcAft>
              <a:defRPr sz="880">
                <a:solidFill>
                  <a:srgbClr val="E2E8F0"/>
                </a:solidFill>
                <a:latin typeface="Segoe UI"/>
              </a:defRPr>
            </a:pPr>
            <a:r>
              <a:t>• Average polling booth queue takes 1 to 3+ hours per citizen.</a:t>
            </a:r>
          </a:p>
          <a:p>
            <a:pPr>
              <a:spcAft>
                <a:spcPts val="250"/>
              </a:spcAft>
              <a:defRPr sz="880">
                <a:solidFill>
                  <a:srgbClr val="E2E8F0"/>
                </a:solidFill>
                <a:latin typeface="Segoe UI"/>
              </a:defRPr>
            </a:pPr>
            <a:r>
              <a:t>• Over 18% of rural and migrant citizens misplace physical voter ID slips.</a:t>
            </a:r>
          </a:p>
          <a:p>
            <a:pPr>
              <a:spcAft>
                <a:spcPts val="250"/>
              </a:spcAft>
              <a:defRPr sz="880">
                <a:solidFill>
                  <a:srgbClr val="E2E8F0"/>
                </a:solidFill>
                <a:latin typeface="Segoe UI"/>
              </a:defRPr>
            </a:pPr>
            <a:r>
              <a:t>• Manual face matching against bulky paper rolls causes fraud and disputes.</a:t>
            </a:r>
          </a:p>
        </p:txBody>
      </p:sp>
      <p:sp>
        <p:nvSpPr>
          <p:cNvPr id="7" name="Rounded Rectangle 6"/>
          <p:cNvSpPr/>
          <p:nvPr/>
        </p:nvSpPr>
        <p:spPr>
          <a:xfrm>
            <a:off x="4389120" y="1645920"/>
            <a:ext cx="3383280" cy="4389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[INNOVATION]</a:t>
            </a:r>
          </a:p>
          <a:p>
            <a:pPr>
              <a:spcAft>
                <a:spcPts val="400"/>
              </a:spcAft>
              <a:defRPr sz="1150" b="1">
                <a:solidFill>
                  <a:srgbClr val="FFFFFF"/>
                </a:solidFill>
                <a:latin typeface="Trebuchet MS"/>
              </a:defRPr>
            </a:pPr>
            <a:r>
              <a:t>The Nayan Vote Solution</a:t>
            </a:r>
          </a:p>
          <a:p>
            <a:pPr>
              <a:spcAft>
                <a:spcPts val="250"/>
              </a:spcAft>
              <a:defRPr sz="880">
                <a:solidFill>
                  <a:srgbClr val="E2E8F0"/>
                </a:solidFill>
                <a:latin typeface="Segoe UI"/>
              </a:defRPr>
            </a:pPr>
            <a:r>
              <a:t>• Touchless near-infrared dual iris scanning unlocks voter identity in 1.8 seconds.</a:t>
            </a:r>
          </a:p>
          <a:p>
            <a:pPr>
              <a:spcAft>
                <a:spcPts val="250"/>
              </a:spcAft>
              <a:defRPr sz="880">
                <a:solidFill>
                  <a:srgbClr val="E2E8F0"/>
                </a:solidFill>
                <a:latin typeface="Segoe UI"/>
              </a:defRPr>
            </a:pPr>
            <a:r>
              <a:t>• Zero-Card voting: No physical voter slips or EPIC cards required.</a:t>
            </a:r>
          </a:p>
          <a:p>
            <a:pPr>
              <a:spcAft>
                <a:spcPts val="250"/>
              </a:spcAft>
              <a:defRPr sz="880">
                <a:solidFill>
                  <a:srgbClr val="E2E8F0"/>
                </a:solidFill>
                <a:latin typeface="Segoe UI"/>
              </a:defRPr>
            </a:pPr>
            <a:r>
              <a:t>• Multimodal interaction: Choose touch tapping or conversational voice in 9 Indian languages.</a:t>
            </a:r>
          </a:p>
          <a:p>
            <a:pPr>
              <a:spcAft>
                <a:spcPts val="250"/>
              </a:spcAft>
              <a:defRPr sz="880">
                <a:solidFill>
                  <a:srgbClr val="E2E8F0"/>
                </a:solidFill>
                <a:latin typeface="Segoe UI"/>
              </a:defRPr>
            </a:pPr>
            <a:r>
              <a:t>• Ephemeral Privacy: Identity decoupled from ballot; biometrics erased in 5s.</a:t>
            </a:r>
          </a:p>
          <a:p>
            <a:pPr>
              <a:spcAft>
                <a:spcPts val="250"/>
              </a:spcAft>
              <a:defRPr sz="880">
                <a:solidFill>
                  <a:srgbClr val="E2E8F0"/>
                </a:solidFill>
                <a:latin typeface="Segoe UI"/>
              </a:defRPr>
            </a:pPr>
            <a:r>
              <a:t>• Verifiable physical proof via instant thermal VVPAT 2.0 printed paper audit trail.</a:t>
            </a:r>
          </a:p>
        </p:txBody>
      </p:sp>
      <p:sp>
        <p:nvSpPr>
          <p:cNvPr id="8" name="Rounded Rectangle 7"/>
          <p:cNvSpPr/>
          <p:nvPr/>
        </p:nvSpPr>
        <p:spPr>
          <a:xfrm>
            <a:off x="8046720" y="1645920"/>
            <a:ext cx="338328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[IMPACT]</a:t>
            </a:r>
          </a:p>
          <a:p>
            <a:pPr>
              <a:spcAft>
                <a:spcPts val="400"/>
              </a:spcAft>
              <a:defRPr sz="1150" b="1">
                <a:solidFill>
                  <a:srgbClr val="FFFFFF"/>
                </a:solidFill>
                <a:latin typeface="Trebuchet MS"/>
              </a:defRPr>
            </a:pPr>
            <a:r>
              <a:t>Measurable Democratic ROI</a:t>
            </a:r>
          </a:p>
          <a:p>
            <a:pPr>
              <a:spcAft>
                <a:spcPts val="250"/>
              </a:spcAft>
              <a:defRPr sz="880">
                <a:solidFill>
                  <a:srgbClr val="E2E8F0"/>
                </a:solidFill>
                <a:latin typeface="Segoe UI"/>
              </a:defRPr>
            </a:pPr>
            <a:r>
              <a:t>• ↓ 95% reduction in voter impersonation via micro-pupil liveness checks.</a:t>
            </a:r>
          </a:p>
          <a:p>
            <a:pPr>
              <a:spcAft>
                <a:spcPts val="250"/>
              </a:spcAft>
              <a:defRPr sz="880">
                <a:solidFill>
                  <a:srgbClr val="E2E8F0"/>
                </a:solidFill>
                <a:latin typeface="Segoe UI"/>
              </a:defRPr>
            </a:pPr>
            <a:r>
              <a:t>• Average voting time cut from 5+ minutes to 48 seconds (500% throughput gain).</a:t>
            </a:r>
          </a:p>
          <a:p>
            <a:pPr>
              <a:spcAft>
                <a:spcPts val="250"/>
              </a:spcAft>
              <a:defRPr sz="880">
                <a:solidFill>
                  <a:srgbClr val="E2E8F0"/>
                </a:solidFill>
                <a:latin typeface="Segoe UI"/>
              </a:defRPr>
            </a:pPr>
            <a:r>
              <a:t>• ↑ 92% unassisted task completion for elderly and visually impaired voters.</a:t>
            </a:r>
          </a:p>
          <a:p>
            <a:pPr>
              <a:spcAft>
                <a:spcPts val="250"/>
              </a:spcAft>
              <a:defRPr sz="880">
                <a:solidFill>
                  <a:srgbClr val="E2E8F0"/>
                </a:solidFill>
                <a:latin typeface="Segoe UI"/>
              </a:defRPr>
            </a:pPr>
            <a:r>
              <a:t>• 80% reduction in paper voter slip printing and administrative waste.</a:t>
            </a:r>
          </a:p>
          <a:p>
            <a:pPr>
              <a:spcAft>
                <a:spcPts val="250"/>
              </a:spcAft>
              <a:defRPr sz="880">
                <a:solidFill>
                  <a:srgbClr val="E2E8F0"/>
                </a:solidFill>
                <a:latin typeface="Segoe UI"/>
              </a:defRPr>
            </a:pPr>
            <a:r>
              <a:t>• Reusable modular kiosk hardware with 15-year operational lifespan.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MARKET OPPORTUNITY</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Business &amp; Civic Scale: 1 Billion Voters &amp; $7B Logistics</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Quantifying the economic, operational, and institutional scale of electoral modernization.</a:t>
            </a:r>
          </a:p>
        </p:txBody>
      </p:sp>
      <p:sp>
        <p:nvSpPr>
          <p:cNvPr id="6" name="Rounded Rectangle 5"/>
          <p:cNvSpPr/>
          <p:nvPr/>
        </p:nvSpPr>
        <p:spPr>
          <a:xfrm>
            <a:off x="731520" y="1645920"/>
            <a:ext cx="3383280" cy="4389120"/>
          </a:xfrm>
          <a:prstGeom prst="roundRect">
            <a:avLst/>
          </a:prstGeom>
          <a:solidFill>
            <a:srgbClr val="141D2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38BDF8"/>
                </a:solidFill>
                <a:latin typeface="Consolas"/>
              </a:defRPr>
            </a:pPr>
            <a:r>
              <a:t>[MARKET SCALE]</a:t>
            </a:r>
          </a:p>
          <a:p>
            <a:pPr>
              <a:spcAft>
                <a:spcPts val="400"/>
              </a:spcAft>
              <a:defRPr sz="1150" b="1">
                <a:solidFill>
                  <a:srgbClr val="FFFFFF"/>
                </a:solidFill>
                <a:latin typeface="Trebuchet MS"/>
              </a:defRPr>
            </a:pPr>
            <a:r>
              <a:t>Scale of Indian Democracy</a:t>
            </a:r>
          </a:p>
          <a:p>
            <a:pPr>
              <a:spcAft>
                <a:spcPts val="250"/>
              </a:spcAft>
              <a:defRPr sz="880">
                <a:solidFill>
                  <a:srgbClr val="E2E8F0"/>
                </a:solidFill>
                <a:latin typeface="Segoe UI"/>
              </a:defRPr>
            </a:pPr>
            <a:r>
              <a:t>• 968 Million registered citizens voting across 1.2 Million polling booths.</a:t>
            </a:r>
          </a:p>
          <a:p>
            <a:pPr>
              <a:spcAft>
                <a:spcPts val="250"/>
              </a:spcAft>
              <a:defRPr sz="880">
                <a:solidFill>
                  <a:srgbClr val="E2E8F0"/>
                </a:solidFill>
                <a:latin typeface="Segoe UI"/>
              </a:defRPr>
            </a:pPr>
            <a:r>
              <a:t>• Extreme linguistic and literacy diversity across 22 official languages.</a:t>
            </a:r>
          </a:p>
          <a:p>
            <a:pPr>
              <a:spcAft>
                <a:spcPts val="250"/>
              </a:spcAft>
              <a:defRPr sz="880">
                <a:solidFill>
                  <a:srgbClr val="E2E8F0"/>
                </a:solidFill>
                <a:latin typeface="Segoe UI"/>
              </a:defRPr>
            </a:pPr>
            <a:r>
              <a:t>• Vast rural-urban divide: High digital literacy in hubs vs 250M+ non-readers in villages.</a:t>
            </a:r>
          </a:p>
          <a:p>
            <a:pPr>
              <a:spcAft>
                <a:spcPts val="250"/>
              </a:spcAft>
              <a:defRPr sz="880">
                <a:solidFill>
                  <a:srgbClr val="E2E8F0"/>
                </a:solidFill>
                <a:latin typeface="Segoe UI"/>
              </a:defRPr>
            </a:pPr>
            <a:r>
              <a:t>• Huge logistical deployment: Over 15 million election workers and security forces mobilized.</a:t>
            </a:r>
          </a:p>
          <a:p>
            <a:pPr>
              <a:spcAft>
                <a:spcPts val="250"/>
              </a:spcAft>
              <a:defRPr sz="880">
                <a:solidFill>
                  <a:srgbClr val="E2E8F0"/>
                </a:solidFill>
                <a:latin typeface="Segoe UI"/>
              </a:defRPr>
            </a:pPr>
            <a:r>
              <a:t>• Demand for a unified civic hardware standard that works seamlessly across all states.</a:t>
            </a:r>
          </a:p>
        </p:txBody>
      </p:sp>
      <p:sp>
        <p:nvSpPr>
          <p:cNvPr id="7" name="Rounded Rectangle 6"/>
          <p:cNvSpPr/>
          <p:nvPr/>
        </p:nvSpPr>
        <p:spPr>
          <a:xfrm>
            <a:off x="4389120" y="1645920"/>
            <a:ext cx="3383280" cy="4389120"/>
          </a:xfrm>
          <a:prstGeom prst="roundRect">
            <a:avLst/>
          </a:prstGeom>
          <a:solidFill>
            <a:srgbClr val="141D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F59E0B"/>
                </a:solidFill>
                <a:latin typeface="Consolas"/>
              </a:defRPr>
            </a:pPr>
            <a:r>
              <a:t>[COST BOTTLENECK]</a:t>
            </a:r>
          </a:p>
          <a:p>
            <a:pPr>
              <a:spcAft>
                <a:spcPts val="400"/>
              </a:spcAft>
              <a:defRPr sz="1150" b="1">
                <a:solidFill>
                  <a:srgbClr val="FFFFFF"/>
                </a:solidFill>
                <a:latin typeface="Trebuchet MS"/>
              </a:defRPr>
            </a:pPr>
            <a:r>
              <a:t>The High Cost of Paper Logistics</a:t>
            </a:r>
          </a:p>
          <a:p>
            <a:pPr>
              <a:spcAft>
                <a:spcPts val="250"/>
              </a:spcAft>
              <a:defRPr sz="880">
                <a:solidFill>
                  <a:srgbClr val="E2E8F0"/>
                </a:solidFill>
                <a:latin typeface="Segoe UI"/>
              </a:defRPr>
            </a:pPr>
            <a:r>
              <a:t>• $7 Billion USD election cost per national cycle, growing with every election.</a:t>
            </a:r>
          </a:p>
          <a:p>
            <a:pPr>
              <a:spcAft>
                <a:spcPts val="250"/>
              </a:spcAft>
              <a:defRPr sz="880">
                <a:solidFill>
                  <a:srgbClr val="E2E8F0"/>
                </a:solidFill>
                <a:latin typeface="Segoe UI"/>
              </a:defRPr>
            </a:pPr>
            <a:r>
              <a:t>• Thousands of tons of paper consumed printing voter slips and manual electoral rolls.</a:t>
            </a:r>
          </a:p>
          <a:p>
            <a:pPr>
              <a:spcAft>
                <a:spcPts val="250"/>
              </a:spcAft>
              <a:defRPr sz="880">
                <a:solidFill>
                  <a:srgbClr val="E2E8F0"/>
                </a:solidFill>
                <a:latin typeface="Segoe UI"/>
              </a:defRPr>
            </a:pPr>
            <a:r>
              <a:t>• Clerical errors in printed rolls turn away legitimate registered voters at booth doors.</a:t>
            </a:r>
          </a:p>
          <a:p>
            <a:pPr>
              <a:spcAft>
                <a:spcPts val="250"/>
              </a:spcAft>
              <a:defRPr sz="880">
                <a:solidFill>
                  <a:srgbClr val="E2E8F0"/>
                </a:solidFill>
                <a:latin typeface="Segoe UI"/>
              </a:defRPr>
            </a:pPr>
            <a:r>
              <a:t>• Massive public frustration: 1 to 3 hour queues cause high dropout among daily wage earners.</a:t>
            </a:r>
          </a:p>
          <a:p>
            <a:pPr>
              <a:spcAft>
                <a:spcPts val="250"/>
              </a:spcAft>
              <a:defRPr sz="880">
                <a:solidFill>
                  <a:srgbClr val="E2E8F0"/>
                </a:solidFill>
                <a:latin typeface="Segoe UI"/>
              </a:defRPr>
            </a:pPr>
            <a:r>
              <a:t>• Substantial policing costs required to manage crowded, contentious booth lines.</a:t>
            </a:r>
          </a:p>
        </p:txBody>
      </p:sp>
      <p:sp>
        <p:nvSpPr>
          <p:cNvPr id="8" name="Rounded Rectangle 7"/>
          <p:cNvSpPr/>
          <p:nvPr/>
        </p:nvSpPr>
        <p:spPr>
          <a:xfrm>
            <a:off x="8046720" y="1645920"/>
            <a:ext cx="338328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[ECONOMIC VALUE]</a:t>
            </a:r>
          </a:p>
          <a:p>
            <a:pPr>
              <a:spcAft>
                <a:spcPts val="400"/>
              </a:spcAft>
              <a:defRPr sz="1150" b="1">
                <a:solidFill>
                  <a:srgbClr val="FFFFFF"/>
                </a:solidFill>
                <a:latin typeface="Trebuchet MS"/>
              </a:defRPr>
            </a:pPr>
            <a:r>
              <a:t>Civic Tech ROI &amp; Throughput</a:t>
            </a:r>
          </a:p>
          <a:p>
            <a:pPr>
              <a:spcAft>
                <a:spcPts val="250"/>
              </a:spcAft>
              <a:defRPr sz="880">
                <a:solidFill>
                  <a:srgbClr val="E2E8F0"/>
                </a:solidFill>
                <a:latin typeface="Segoe UI"/>
              </a:defRPr>
            </a:pPr>
            <a:r>
              <a:t>• 5x Booth Throughput: Average voting duration dropped from 300s to 48s.</a:t>
            </a:r>
          </a:p>
          <a:p>
            <a:pPr>
              <a:spcAft>
                <a:spcPts val="250"/>
              </a:spcAft>
              <a:defRPr sz="880">
                <a:solidFill>
                  <a:srgbClr val="E2E8F0"/>
                </a:solidFill>
                <a:latin typeface="Segoe UI"/>
              </a:defRPr>
            </a:pPr>
            <a:r>
              <a:t>• Paperless Efficiency: Eliminates hundreds of millions of single-use voter slips.</a:t>
            </a:r>
          </a:p>
          <a:p>
            <a:pPr>
              <a:spcAft>
                <a:spcPts val="250"/>
              </a:spcAft>
              <a:defRPr sz="880">
                <a:solidFill>
                  <a:srgbClr val="E2E8F0"/>
                </a:solidFill>
                <a:latin typeface="Segoe UI"/>
              </a:defRPr>
            </a:pPr>
            <a:r>
              <a:t>• Multi-Tier Applicability: Scales from national general elections to state civic polls and universities.</a:t>
            </a:r>
          </a:p>
          <a:p>
            <a:pPr>
              <a:spcAft>
                <a:spcPts val="250"/>
              </a:spcAft>
              <a:defRPr sz="880">
                <a:solidFill>
                  <a:srgbClr val="E2E8F0"/>
                </a:solidFill>
                <a:latin typeface="Segoe UI"/>
              </a:defRPr>
            </a:pPr>
            <a:r>
              <a:t>• Long-Life Asset: Modular kiosk architecture designed for 15+ years of election cycles.</a:t>
            </a:r>
          </a:p>
          <a:p>
            <a:pPr>
              <a:spcAft>
                <a:spcPts val="250"/>
              </a:spcAft>
              <a:defRPr sz="880">
                <a:solidFill>
                  <a:srgbClr val="E2E8F0"/>
                </a:solidFill>
                <a:latin typeface="Segoe UI"/>
              </a:defRPr>
            </a:pPr>
            <a:r>
              <a:t>• International Export Potential: Adaptable for emerging democracies across the Global South.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PROJECT SCOPING</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Project Conception &amp; 4-Pillar Stakeholder Alignment</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Balancing constitutional security mandates with radical citizen accessibility.</a:t>
            </a:r>
          </a:p>
        </p:txBody>
      </p:sp>
      <p:sp>
        <p:nvSpPr>
          <p:cNvPr id="6" name="Rounded Rectangle 5"/>
          <p:cNvSpPr/>
          <p:nvPr/>
        </p:nvSpPr>
        <p:spPr>
          <a:xfrm>
            <a:off x="731520" y="1645920"/>
            <a:ext cx="5212080" cy="2103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[ORIGIN]</a:t>
            </a:r>
          </a:p>
          <a:p>
            <a:pPr>
              <a:spcAft>
                <a:spcPts val="400"/>
              </a:spcAft>
              <a:defRPr sz="1150" b="1">
                <a:solidFill>
                  <a:srgbClr val="FFFFFF"/>
                </a:solidFill>
                <a:latin typeface="Trebuchet MS"/>
              </a:defRPr>
            </a:pPr>
            <a:r>
              <a:t>Why 'Nayan Vote'? (Conception)</a:t>
            </a:r>
          </a:p>
          <a:p>
            <a:pPr>
              <a:spcAft>
                <a:spcPts val="250"/>
              </a:spcAft>
              <a:defRPr sz="880">
                <a:solidFill>
                  <a:srgbClr val="E2E8F0"/>
                </a:solidFill>
                <a:latin typeface="Segoe UI"/>
              </a:defRPr>
            </a:pPr>
            <a:r>
              <a:t>• 'Nayan' (नयन) translates to 'Eye' in Sanskrit and Hindi.</a:t>
            </a:r>
          </a:p>
          <a:p>
            <a:pPr>
              <a:spcAft>
                <a:spcPts val="250"/>
              </a:spcAft>
              <a:defRPr sz="880">
                <a:solidFill>
                  <a:srgbClr val="E2E8F0"/>
                </a:solidFill>
                <a:latin typeface="Segoe UI"/>
              </a:defRPr>
            </a:pPr>
            <a:r>
              <a:t>• Conceived as an inclusive civic voting station for the Election Commission of India.</a:t>
            </a:r>
          </a:p>
          <a:p>
            <a:pPr>
              <a:spcAft>
                <a:spcPts val="250"/>
              </a:spcAft>
              <a:defRPr sz="880">
                <a:solidFill>
                  <a:srgbClr val="E2E8F0"/>
                </a:solidFill>
                <a:latin typeface="Segoe UI"/>
              </a:defRPr>
            </a:pPr>
            <a:r>
              <a:t>• Combines near-IR eye biometrics with directional audio to eradicate physical barriers.</a:t>
            </a:r>
          </a:p>
        </p:txBody>
      </p:sp>
      <p:sp>
        <p:nvSpPr>
          <p:cNvPr id="7" name="Rounded Rectangle 6"/>
          <p:cNvSpPr/>
          <p:nvPr/>
        </p:nvSpPr>
        <p:spPr>
          <a:xfrm>
            <a:off x="6217920" y="1645920"/>
            <a:ext cx="5212080" cy="2103120"/>
          </a:xfrm>
          <a:prstGeom prst="roundRect">
            <a:avLst/>
          </a:prstGeom>
          <a:solidFill>
            <a:srgbClr val="141D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A855F7"/>
                </a:solidFill>
                <a:latin typeface="Consolas"/>
              </a:defRPr>
            </a:pPr>
            <a:r>
              <a:t>[BOUNDARIES]</a:t>
            </a:r>
          </a:p>
          <a:p>
            <a:pPr>
              <a:spcAft>
                <a:spcPts val="400"/>
              </a:spcAft>
              <a:defRPr sz="1150" b="1">
                <a:solidFill>
                  <a:srgbClr val="FFFFFF"/>
                </a:solidFill>
                <a:latin typeface="Trebuchet MS"/>
              </a:defRPr>
            </a:pPr>
            <a:r>
              <a:t>System Boundaries (Scoping)</a:t>
            </a:r>
          </a:p>
          <a:p>
            <a:pPr>
              <a:spcAft>
                <a:spcPts val="250"/>
              </a:spcAft>
              <a:defRPr sz="880">
                <a:solidFill>
                  <a:srgbClr val="E2E8F0"/>
                </a:solidFill>
                <a:latin typeface="Segoe UI"/>
              </a:defRPr>
            </a:pPr>
            <a:r>
              <a:t>• In Scope: 16:9 kiosk UI, near-IR scanner, directional audio, thermal VVPAT 2.0, offline crypto.</a:t>
            </a:r>
          </a:p>
          <a:p>
            <a:pPr>
              <a:spcAft>
                <a:spcPts val="250"/>
              </a:spcAft>
              <a:defRPr sz="880">
                <a:solidFill>
                  <a:srgbClr val="E2E8F0"/>
                </a:solidFill>
                <a:latin typeface="Segoe UI"/>
              </a:defRPr>
            </a:pPr>
            <a:r>
              <a:t>• In Scope: 9-language voice guidance, 3-attempt retry governor, 5-tier Service Blueprint.</a:t>
            </a:r>
          </a:p>
          <a:p>
            <a:pPr>
              <a:spcAft>
                <a:spcPts val="250"/>
              </a:spcAft>
              <a:defRPr sz="880">
                <a:solidFill>
                  <a:srgbClr val="E2E8F0"/>
                </a:solidFill>
                <a:latin typeface="Segoe UI"/>
              </a:defRPr>
            </a:pPr>
            <a:r>
              <a:t>• Out of Scope: Internet voting from home (prohibits coercion and protects booth secrecy).</a:t>
            </a:r>
          </a:p>
        </p:txBody>
      </p:sp>
      <p:sp>
        <p:nvSpPr>
          <p:cNvPr id="8" name="Rounded Rectangle 7"/>
          <p:cNvSpPr/>
          <p:nvPr/>
        </p:nvSpPr>
        <p:spPr>
          <a:xfrm>
            <a:off x="731520" y="3931920"/>
            <a:ext cx="2468880" cy="2103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[VOTERS]</a:t>
            </a:r>
          </a:p>
          <a:p>
            <a:pPr>
              <a:spcAft>
                <a:spcPts val="400"/>
              </a:spcAft>
              <a:defRPr sz="1150" b="1">
                <a:solidFill>
                  <a:srgbClr val="FFFFFF"/>
                </a:solidFill>
                <a:latin typeface="Trebuchet MS"/>
              </a:defRPr>
            </a:pPr>
            <a:r>
              <a:t>Citizens &amp; Voters</a:t>
            </a:r>
          </a:p>
          <a:p>
            <a:pPr>
              <a:spcAft>
                <a:spcPts val="250"/>
              </a:spcAft>
              <a:defRPr sz="880">
                <a:solidFill>
                  <a:srgbClr val="E2E8F0"/>
                </a:solidFill>
                <a:latin typeface="Segoe UI"/>
              </a:defRPr>
            </a:pPr>
            <a:r>
              <a:t>• Speed, dignity, zero-card ease.</a:t>
            </a:r>
          </a:p>
          <a:p>
            <a:pPr>
              <a:spcAft>
                <a:spcPts val="250"/>
              </a:spcAft>
              <a:defRPr sz="880">
                <a:solidFill>
                  <a:srgbClr val="E2E8F0"/>
                </a:solidFill>
                <a:latin typeface="Segoe UI"/>
              </a:defRPr>
            </a:pPr>
            <a:r>
              <a:t>• Native language instructions.</a:t>
            </a:r>
          </a:p>
          <a:p>
            <a:pPr>
              <a:spcAft>
                <a:spcPts val="250"/>
              </a:spcAft>
              <a:defRPr sz="880">
                <a:solidFill>
                  <a:srgbClr val="E2E8F0"/>
                </a:solidFill>
                <a:latin typeface="Segoe UI"/>
              </a:defRPr>
            </a:pPr>
            <a:r>
              <a:t>• Unconditional ballot secrecy.</a:t>
            </a:r>
          </a:p>
        </p:txBody>
      </p:sp>
      <p:sp>
        <p:nvSpPr>
          <p:cNvPr id="9" name="Rounded Rectangle 8"/>
          <p:cNvSpPr/>
          <p:nvPr/>
        </p:nvSpPr>
        <p:spPr>
          <a:xfrm>
            <a:off x="3474720" y="3931920"/>
            <a:ext cx="2468880" cy="2103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[ECI STAFF]</a:t>
            </a:r>
          </a:p>
          <a:p>
            <a:pPr>
              <a:spcAft>
                <a:spcPts val="400"/>
              </a:spcAft>
              <a:defRPr sz="1150" b="1">
                <a:solidFill>
                  <a:srgbClr val="FFFFFF"/>
                </a:solidFill>
                <a:latin typeface="Trebuchet MS"/>
              </a:defRPr>
            </a:pPr>
            <a:r>
              <a:t>Election Commission</a:t>
            </a:r>
          </a:p>
          <a:p>
            <a:pPr>
              <a:spcAft>
                <a:spcPts val="250"/>
              </a:spcAft>
              <a:defRPr sz="880">
                <a:solidFill>
                  <a:srgbClr val="E2E8F0"/>
                </a:solidFill>
                <a:latin typeface="Segoe UI"/>
              </a:defRPr>
            </a:pPr>
            <a:r>
              <a:t>• Tamper-proof voting records.</a:t>
            </a:r>
          </a:p>
          <a:p>
            <a:pPr>
              <a:spcAft>
                <a:spcPts val="250"/>
              </a:spcAft>
              <a:defRPr sz="880">
                <a:solidFill>
                  <a:srgbClr val="E2E8F0"/>
                </a:solidFill>
                <a:latin typeface="Segoe UI"/>
              </a:defRPr>
            </a:pPr>
            <a:r>
              <a:t>• Zero voter impersonation.</a:t>
            </a:r>
          </a:p>
          <a:p>
            <a:pPr>
              <a:spcAft>
                <a:spcPts val="250"/>
              </a:spcAft>
              <a:defRPr sz="880">
                <a:solidFill>
                  <a:srgbClr val="E2E8F0"/>
                </a:solidFill>
                <a:latin typeface="Segoe UI"/>
              </a:defRPr>
            </a:pPr>
            <a:r>
              <a:t>• Dual physical + digital audit trail.</a:t>
            </a:r>
          </a:p>
        </p:txBody>
      </p:sp>
      <p:sp>
        <p:nvSpPr>
          <p:cNvPr id="10" name="Rounded Rectangle 9"/>
          <p:cNvSpPr/>
          <p:nvPr/>
        </p:nvSpPr>
        <p:spPr>
          <a:xfrm>
            <a:off x="6217920" y="3931920"/>
            <a:ext cx="2468880" cy="2103120"/>
          </a:xfrm>
          <a:prstGeom prst="roundRect">
            <a:avLst/>
          </a:prstGeom>
          <a:solidFill>
            <a:srgbClr val="141D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F59E0B"/>
                </a:solidFill>
                <a:latin typeface="Consolas"/>
              </a:defRPr>
            </a:pPr>
            <a:r>
              <a:t>[FIELD OFFICERS]</a:t>
            </a:r>
          </a:p>
          <a:p>
            <a:pPr>
              <a:spcAft>
                <a:spcPts val="400"/>
              </a:spcAft>
              <a:defRPr sz="1150" b="1">
                <a:solidFill>
                  <a:srgbClr val="FFFFFF"/>
                </a:solidFill>
                <a:latin typeface="Trebuchet MS"/>
              </a:defRPr>
            </a:pPr>
            <a:r>
              <a:t>Presiding Officers</a:t>
            </a:r>
          </a:p>
          <a:p>
            <a:pPr>
              <a:spcAft>
                <a:spcPts val="250"/>
              </a:spcAft>
              <a:defRPr sz="880">
                <a:solidFill>
                  <a:srgbClr val="E2E8F0"/>
                </a:solidFill>
                <a:latin typeface="Segoe UI"/>
              </a:defRPr>
            </a:pPr>
            <a:r>
              <a:t>• Automated queue pacing.</a:t>
            </a:r>
          </a:p>
          <a:p>
            <a:pPr>
              <a:spcAft>
                <a:spcPts val="250"/>
              </a:spcAft>
              <a:defRPr sz="880">
                <a:solidFill>
                  <a:srgbClr val="E2E8F0"/>
                </a:solidFill>
                <a:latin typeface="Segoe UI"/>
              </a:defRPr>
            </a:pPr>
            <a:r>
              <a:t>• Elimination of paper roll searches.</a:t>
            </a:r>
          </a:p>
          <a:p>
            <a:pPr>
              <a:spcAft>
                <a:spcPts val="250"/>
              </a:spcAft>
              <a:defRPr sz="880">
                <a:solidFill>
                  <a:srgbClr val="E2E8F0"/>
                </a:solidFill>
                <a:latin typeface="Segoe UI"/>
              </a:defRPr>
            </a:pPr>
            <a:r>
              <a:t>• Calm 3-attempt exception transfer.</a:t>
            </a:r>
          </a:p>
        </p:txBody>
      </p:sp>
      <p:sp>
        <p:nvSpPr>
          <p:cNvPr id="11" name="Rounded Rectangle 10"/>
          <p:cNvSpPr/>
          <p:nvPr/>
        </p:nvSpPr>
        <p:spPr>
          <a:xfrm>
            <a:off x="8961120" y="3931920"/>
            <a:ext cx="2468880" cy="2103120"/>
          </a:xfrm>
          <a:prstGeom prst="roundRect">
            <a:avLst/>
          </a:prstGeom>
          <a:solidFill>
            <a:srgbClr val="141D2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38BDF8"/>
                </a:solidFill>
                <a:latin typeface="Consolas"/>
              </a:defRPr>
            </a:pPr>
            <a:r>
              <a:t>[ADVOCATES]</a:t>
            </a:r>
          </a:p>
          <a:p>
            <a:pPr>
              <a:spcAft>
                <a:spcPts val="400"/>
              </a:spcAft>
              <a:defRPr sz="1150" b="1">
                <a:solidFill>
                  <a:srgbClr val="FFFFFF"/>
                </a:solidFill>
                <a:latin typeface="Trebuchet MS"/>
              </a:defRPr>
            </a:pPr>
            <a:r>
              <a:t>Accessibility Groups</a:t>
            </a:r>
          </a:p>
          <a:p>
            <a:pPr>
              <a:spcAft>
                <a:spcPts val="250"/>
              </a:spcAft>
              <a:defRPr sz="880">
                <a:solidFill>
                  <a:srgbClr val="E2E8F0"/>
                </a:solidFill>
                <a:latin typeface="Segoe UI"/>
              </a:defRPr>
            </a:pPr>
            <a:r>
              <a:t>• 100% unassisted blind voting.</a:t>
            </a:r>
          </a:p>
          <a:p>
            <a:pPr>
              <a:spcAft>
                <a:spcPts val="250"/>
              </a:spcAft>
              <a:defRPr sz="880">
                <a:solidFill>
                  <a:srgbClr val="E2E8F0"/>
                </a:solidFill>
                <a:latin typeface="Segoe UI"/>
              </a:defRPr>
            </a:pPr>
            <a:r>
              <a:t>• Directional private audio cues.</a:t>
            </a:r>
          </a:p>
          <a:p>
            <a:pPr>
              <a:spcAft>
                <a:spcPts val="250"/>
              </a:spcAft>
              <a:defRPr sz="880">
                <a:solidFill>
                  <a:srgbClr val="E2E8F0"/>
                </a:solidFill>
                <a:latin typeface="Segoe UI"/>
              </a:defRPr>
            </a:pPr>
            <a:r>
              <a:t>• Equal citizenship for disabled voters.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PRIMARY RESEARCH</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Field Inquiry: 10 Contextual Interviews Across India</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Uncovering deep citizen behavioral patterns, booth anxieties, and tactile habits.</a:t>
            </a:r>
          </a:p>
        </p:txBody>
      </p:sp>
      <p:sp>
        <p:nvSpPr>
          <p:cNvPr id="6" name="Rounded Rectangle 5"/>
          <p:cNvSpPr/>
          <p:nvPr/>
        </p:nvSpPr>
        <p:spPr>
          <a:xfrm>
            <a:off x="731520" y="1645920"/>
            <a:ext cx="3383280" cy="4389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[RESEARCH PROTOCOL]</a:t>
            </a:r>
          </a:p>
          <a:p>
            <a:pPr>
              <a:spcAft>
                <a:spcPts val="400"/>
              </a:spcAft>
              <a:defRPr sz="1150" b="1">
                <a:solidFill>
                  <a:srgbClr val="FFFFFF"/>
                </a:solidFill>
                <a:latin typeface="Trebuchet MS"/>
              </a:defRPr>
            </a:pPr>
            <a:r>
              <a:t>Methodology &amp; Cohort</a:t>
            </a:r>
          </a:p>
          <a:p>
            <a:pPr>
              <a:spcAft>
                <a:spcPts val="250"/>
              </a:spcAft>
              <a:defRPr sz="880">
                <a:solidFill>
                  <a:srgbClr val="E2E8F0"/>
                </a:solidFill>
                <a:latin typeface="Segoe UI"/>
              </a:defRPr>
            </a:pPr>
            <a:r>
              <a:t>• 10 in-depth qualitative interviews conducted across urban, semi-urban, and rural districts.</a:t>
            </a:r>
          </a:p>
          <a:p>
            <a:pPr>
              <a:spcAft>
                <a:spcPts val="250"/>
              </a:spcAft>
              <a:defRPr sz="880">
                <a:solidFill>
                  <a:srgbClr val="E2E8F0"/>
                </a:solidFill>
                <a:latin typeface="Segoe UI"/>
              </a:defRPr>
            </a:pPr>
            <a:r>
              <a:t>• Diverse Age Spectrum: Participants aged 18 to 80 years old.</a:t>
            </a:r>
          </a:p>
          <a:p>
            <a:pPr>
              <a:spcAft>
                <a:spcPts val="250"/>
              </a:spcAft>
              <a:defRPr sz="880">
                <a:solidFill>
                  <a:srgbClr val="E2E8F0"/>
                </a:solidFill>
                <a:latin typeface="Segoe UI"/>
              </a:defRPr>
            </a:pPr>
            <a:r>
              <a:t>• Literacy Range: College tech graduates to non-reading agricultural workers.</a:t>
            </a:r>
          </a:p>
          <a:p>
            <a:pPr>
              <a:spcAft>
                <a:spcPts val="250"/>
              </a:spcAft>
              <a:defRPr sz="880">
                <a:solidFill>
                  <a:srgbClr val="E2E8F0"/>
                </a:solidFill>
                <a:latin typeface="Segoe UI"/>
              </a:defRPr>
            </a:pPr>
            <a:r>
              <a:t>• Accessibility: Included visually impaired teachers and elderly with hand tremors.</a:t>
            </a:r>
          </a:p>
          <a:p>
            <a:pPr>
              <a:spcAft>
                <a:spcPts val="250"/>
              </a:spcAft>
              <a:defRPr sz="880">
                <a:solidFill>
                  <a:srgbClr val="E2E8F0"/>
                </a:solidFill>
                <a:latin typeface="Segoe UI"/>
              </a:defRPr>
            </a:pPr>
            <a:r>
              <a:t>• Simulated Polling Environment: Evaluated physical interactions in 65 dB ambient booth noise.</a:t>
            </a:r>
          </a:p>
        </p:txBody>
      </p:sp>
      <p:sp>
        <p:nvSpPr>
          <p:cNvPr id="7" name="Rounded Rectangle 6"/>
          <p:cNvSpPr/>
          <p:nvPr/>
        </p:nvSpPr>
        <p:spPr>
          <a:xfrm>
            <a:off x="4389120" y="1645920"/>
            <a:ext cx="3383280" cy="4389120"/>
          </a:xfrm>
          <a:prstGeom prst="roundRect">
            <a:avLst/>
          </a:prstGeom>
          <a:solidFill>
            <a:srgbClr val="141D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F59E0B"/>
                </a:solidFill>
                <a:latin typeface="Consolas"/>
              </a:defRPr>
            </a:pPr>
            <a:r>
              <a:t>[FIELD FINDINGS]</a:t>
            </a:r>
          </a:p>
          <a:p>
            <a:pPr>
              <a:spcAft>
                <a:spcPts val="400"/>
              </a:spcAft>
              <a:defRPr sz="1150" b="1">
                <a:solidFill>
                  <a:srgbClr val="FFFFFF"/>
                </a:solidFill>
                <a:latin typeface="Trebuchet MS"/>
              </a:defRPr>
            </a:pPr>
            <a:r>
              <a:t>Key Behavioral Observations</a:t>
            </a:r>
          </a:p>
          <a:p>
            <a:pPr>
              <a:spcAft>
                <a:spcPts val="250"/>
              </a:spcAft>
              <a:defRPr sz="880">
                <a:solidFill>
                  <a:srgbClr val="E2E8F0"/>
                </a:solidFill>
                <a:latin typeface="Segoe UI"/>
              </a:defRPr>
            </a:pPr>
            <a:r>
              <a:t>• ID Slip Anxiety: Voters constantly pat their pockets worrying they dropped paper slips.</a:t>
            </a:r>
          </a:p>
          <a:p>
            <a:pPr>
              <a:spcAft>
                <a:spcPts val="250"/>
              </a:spcAft>
              <a:defRPr sz="880">
                <a:solidFill>
                  <a:srgbClr val="E2E8F0"/>
                </a:solidFill>
                <a:latin typeface="Segoe UI"/>
              </a:defRPr>
            </a:pPr>
            <a:r>
              <a:t>• Queue Fatigue: Elderly citizens experience physical dizziness standing in 2-hour lines.</a:t>
            </a:r>
          </a:p>
          <a:p>
            <a:pPr>
              <a:spcAft>
                <a:spcPts val="250"/>
              </a:spcAft>
              <a:defRPr sz="880">
                <a:solidFill>
                  <a:srgbClr val="E2E8F0"/>
                </a:solidFill>
                <a:latin typeface="Segoe UI"/>
              </a:defRPr>
            </a:pPr>
            <a:r>
              <a:t>• Button Hesitation: Rural voters pause 30+ seconds afraid of pressing the wrong candidate button.</a:t>
            </a:r>
          </a:p>
          <a:p>
            <a:pPr>
              <a:spcAft>
                <a:spcPts val="250"/>
              </a:spcAft>
              <a:defRPr sz="880">
                <a:solidFill>
                  <a:srgbClr val="E2E8F0"/>
                </a:solidFill>
                <a:latin typeface="Segoe UI"/>
              </a:defRPr>
            </a:pPr>
            <a:r>
              <a:t>• Compromised Privacy: Blind and illiterate voters bring helpers who often dictate their vote.</a:t>
            </a:r>
          </a:p>
          <a:p>
            <a:pPr>
              <a:spcAft>
                <a:spcPts val="250"/>
              </a:spcAft>
              <a:defRPr sz="880">
                <a:solidFill>
                  <a:srgbClr val="E2E8F0"/>
                </a:solidFill>
                <a:latin typeface="Segoe UI"/>
              </a:defRPr>
            </a:pPr>
            <a:r>
              <a:t>• Clerical Friction: Polling officers misread names in noisy rooms, leading to heated arguments.</a:t>
            </a:r>
          </a:p>
        </p:txBody>
      </p:sp>
      <p:sp>
        <p:nvSpPr>
          <p:cNvPr id="8" name="Rounded Rectangle 7"/>
          <p:cNvSpPr/>
          <p:nvPr/>
        </p:nvSpPr>
        <p:spPr>
          <a:xfrm>
            <a:off x="8046720" y="1645920"/>
            <a:ext cx="338328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[USER QUOTES]</a:t>
            </a:r>
          </a:p>
          <a:p>
            <a:pPr>
              <a:spcAft>
                <a:spcPts val="400"/>
              </a:spcAft>
              <a:defRPr sz="1150" b="1">
                <a:solidFill>
                  <a:srgbClr val="FFFFFF"/>
                </a:solidFill>
                <a:latin typeface="Trebuchet MS"/>
              </a:defRPr>
            </a:pPr>
            <a:r>
              <a:t>Direct Citizen Voice</a:t>
            </a:r>
          </a:p>
          <a:p>
            <a:pPr>
              <a:spcAft>
                <a:spcPts val="250"/>
              </a:spcAft>
              <a:defRPr sz="880">
                <a:solidFill>
                  <a:srgbClr val="E2E8F0"/>
                </a:solidFill>
                <a:latin typeface="Segoe UI"/>
              </a:defRPr>
            </a:pPr>
            <a:r>
              <a:t>• "I always lose that tiny voter slip. If I could just look into a camera, voting would be so simple." — Rural Farmer, Bihar</a:t>
            </a:r>
          </a:p>
          <a:p>
            <a:pPr>
              <a:spcAft>
                <a:spcPts val="250"/>
              </a:spcAft>
              <a:defRPr sz="880">
                <a:solidFill>
                  <a:srgbClr val="E2E8F0"/>
                </a:solidFill>
                <a:latin typeface="Segoe UI"/>
              </a:defRPr>
            </a:pPr>
            <a:r>
              <a:t>• "Why does it take 3 hours to vote in 2026? UPI takes 3 seconds." — Software Engineer, Bengaluru</a:t>
            </a:r>
          </a:p>
          <a:p>
            <a:pPr>
              <a:spcAft>
                <a:spcPts val="250"/>
              </a:spcAft>
              <a:defRPr sz="880">
                <a:solidFill>
                  <a:srgbClr val="E2E8F0"/>
                </a:solidFill>
                <a:latin typeface="Segoe UI"/>
              </a:defRPr>
            </a:pPr>
            <a:r>
              <a:t>• "Braille on EVMs is always rubbed smooth. I have to trust a stranger to vote for me." — Blind Teacher, Hyderabad</a:t>
            </a:r>
          </a:p>
          <a:p>
            <a:pPr>
              <a:spcAft>
                <a:spcPts val="250"/>
              </a:spcAft>
              <a:defRPr sz="880">
                <a:solidFill>
                  <a:srgbClr val="E2E8F0"/>
                </a:solidFill>
                <a:latin typeface="Segoe UI"/>
              </a:defRPr>
            </a:pPr>
            <a:r>
              <a:t>• "Managing 1,200 voters with paper books is a nightmare. We need automated check-in." — Presiding Officer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SECONDARY RESEARCH</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Biometric Benchmarks: Aadhaar &amp; Global EVM Studies</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Leveraging India's 1.3B biometric infrastructure and international electronic voting case studies.</a:t>
            </a:r>
          </a:p>
        </p:txBody>
      </p:sp>
      <p:sp>
        <p:nvSpPr>
          <p:cNvPr id="6" name="Rounded Rectangle 5"/>
          <p:cNvSpPr/>
          <p:nvPr/>
        </p:nvSpPr>
        <p:spPr>
          <a:xfrm>
            <a:off x="731520" y="1645920"/>
            <a:ext cx="338328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[NATIONAL DATA]</a:t>
            </a:r>
          </a:p>
          <a:p>
            <a:pPr>
              <a:spcAft>
                <a:spcPts val="400"/>
              </a:spcAft>
              <a:defRPr sz="1150" b="1">
                <a:solidFill>
                  <a:srgbClr val="FFFFFF"/>
                </a:solidFill>
                <a:latin typeface="Trebuchet MS"/>
              </a:defRPr>
            </a:pPr>
            <a:r>
              <a:t>UIDAI Aadhaar Benchmarks</a:t>
            </a:r>
          </a:p>
          <a:p>
            <a:pPr>
              <a:spcAft>
                <a:spcPts val="250"/>
              </a:spcAft>
              <a:defRPr sz="880">
                <a:solidFill>
                  <a:srgbClr val="E2E8F0"/>
                </a:solidFill>
                <a:latin typeface="Segoe UI"/>
              </a:defRPr>
            </a:pPr>
            <a:r>
              <a:t>• 1.3+ Billion Indian citizens already have biometric iris and fingerprint records enrolled.</a:t>
            </a:r>
          </a:p>
          <a:p>
            <a:pPr>
              <a:spcAft>
                <a:spcPts val="250"/>
              </a:spcAft>
              <a:defRPr sz="880">
                <a:solidFill>
                  <a:srgbClr val="E2E8F0"/>
                </a:solidFill>
                <a:latin typeface="Segoe UI"/>
              </a:defRPr>
            </a:pPr>
            <a:r>
              <a:t>• Over 82% of surveyed citizens are familiar and comfortable with biometric authentication.</a:t>
            </a:r>
          </a:p>
          <a:p>
            <a:pPr>
              <a:spcAft>
                <a:spcPts val="250"/>
              </a:spcAft>
              <a:defRPr sz="880">
                <a:solidFill>
                  <a:srgbClr val="E2E8F0"/>
                </a:solidFill>
                <a:latin typeface="Segoe UI"/>
              </a:defRPr>
            </a:pPr>
            <a:r>
              <a:t>• Iris recognition FAR (False Acceptance Rate) is under 0.0001%—substantially superior to fingerprint.</a:t>
            </a:r>
          </a:p>
          <a:p>
            <a:pPr>
              <a:spcAft>
                <a:spcPts val="250"/>
              </a:spcAft>
              <a:defRPr sz="880">
                <a:solidFill>
                  <a:srgbClr val="E2E8F0"/>
                </a:solidFill>
                <a:latin typeface="Segoe UI"/>
              </a:defRPr>
            </a:pPr>
            <a:r>
              <a:t>• Penetrates Spectacles &amp; Cataracts: Near-IR wavelength (700-900nm) pierces eye opacity safely.</a:t>
            </a:r>
          </a:p>
          <a:p>
            <a:pPr>
              <a:spcAft>
                <a:spcPts val="250"/>
              </a:spcAft>
              <a:defRPr sz="880">
                <a:solidFill>
                  <a:srgbClr val="E2E8F0"/>
                </a:solidFill>
                <a:latin typeface="Segoe UI"/>
              </a:defRPr>
            </a:pPr>
            <a:r>
              <a:t>• Zero Wear Degradation: Unlike manual laborer fingerprints, iris patterns remain intact for life.</a:t>
            </a:r>
          </a:p>
        </p:txBody>
      </p:sp>
      <p:sp>
        <p:nvSpPr>
          <p:cNvPr id="7" name="Rounded Rectangle 6"/>
          <p:cNvSpPr/>
          <p:nvPr/>
        </p:nvSpPr>
        <p:spPr>
          <a:xfrm>
            <a:off x="4389120" y="1645920"/>
            <a:ext cx="3383280" cy="4389120"/>
          </a:xfrm>
          <a:prstGeom prst="roundRect">
            <a:avLst/>
          </a:prstGeom>
          <a:solidFill>
            <a:srgbClr val="141D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F59E0B"/>
                </a:solidFill>
                <a:latin typeface="Consolas"/>
              </a:defRPr>
            </a:pPr>
            <a:r>
              <a:t>[ECI ANALYTICS]</a:t>
            </a:r>
          </a:p>
          <a:p>
            <a:pPr>
              <a:spcAft>
                <a:spcPts val="400"/>
              </a:spcAft>
              <a:defRPr sz="1150" b="1">
                <a:solidFill>
                  <a:srgbClr val="FFFFFF"/>
                </a:solidFill>
                <a:latin typeface="Trebuchet MS"/>
              </a:defRPr>
            </a:pPr>
            <a:r>
              <a:t>ECI Turnout &amp; Error Rates</a:t>
            </a:r>
          </a:p>
          <a:p>
            <a:pPr>
              <a:spcAft>
                <a:spcPts val="250"/>
              </a:spcAft>
              <a:defRPr sz="880">
                <a:solidFill>
                  <a:srgbClr val="E2E8F0"/>
                </a:solidFill>
                <a:latin typeface="Segoe UI"/>
              </a:defRPr>
            </a:pPr>
            <a:r>
              <a:t>• General election turnout averages 66-67%, leaving ~300 million eligible citizens unparticipated.</a:t>
            </a:r>
          </a:p>
          <a:p>
            <a:pPr>
              <a:spcAft>
                <a:spcPts val="250"/>
              </a:spcAft>
              <a:defRPr sz="880">
                <a:solidFill>
                  <a:srgbClr val="E2E8F0"/>
                </a:solidFill>
                <a:latin typeface="Segoe UI"/>
              </a:defRPr>
            </a:pPr>
            <a:r>
              <a:t>• Over 18% of eligible voters report misplacing physical voter ID cards before voting day.</a:t>
            </a:r>
          </a:p>
          <a:p>
            <a:pPr>
              <a:spcAft>
                <a:spcPts val="250"/>
              </a:spcAft>
              <a:defRPr sz="880">
                <a:solidFill>
                  <a:srgbClr val="E2E8F0"/>
                </a:solidFill>
                <a:latin typeface="Segoe UI"/>
              </a:defRPr>
            </a:pPr>
            <a:r>
              <a:t>• Manual clerical roll verification takes an average of 45-75 seconds per voter at the desk.</a:t>
            </a:r>
          </a:p>
          <a:p>
            <a:pPr>
              <a:spcAft>
                <a:spcPts val="250"/>
              </a:spcAft>
              <a:defRPr sz="880">
                <a:solidFill>
                  <a:srgbClr val="E2E8F0"/>
                </a:solidFill>
                <a:latin typeface="Segoe UI"/>
              </a:defRPr>
            </a:pPr>
            <a:r>
              <a:t>• Traditional EVM button pressing takes an additional 60-120 seconds for hesitant voters.</a:t>
            </a:r>
          </a:p>
          <a:p>
            <a:pPr>
              <a:spcAft>
                <a:spcPts val="250"/>
              </a:spcAft>
              <a:defRPr sz="880">
                <a:solidFill>
                  <a:srgbClr val="E2E8F0"/>
                </a:solidFill>
                <a:latin typeface="Segoe UI"/>
              </a:defRPr>
            </a:pPr>
            <a:r>
              <a:t>• VVPAT paper audit trails are universally demanded to ensure post-election auditability.</a:t>
            </a:r>
          </a:p>
        </p:txBody>
      </p:sp>
      <p:sp>
        <p:nvSpPr>
          <p:cNvPr id="8" name="Rounded Rectangle 7"/>
          <p:cNvSpPr/>
          <p:nvPr/>
        </p:nvSpPr>
        <p:spPr>
          <a:xfrm>
            <a:off x="8046720" y="1645920"/>
            <a:ext cx="3383280" cy="4389120"/>
          </a:xfrm>
          <a:prstGeom prst="roundRect">
            <a:avLst/>
          </a:prstGeom>
          <a:solidFill>
            <a:srgbClr val="141D2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38BDF8"/>
                </a:solidFill>
                <a:latin typeface="Consolas"/>
              </a:defRPr>
            </a:pPr>
            <a:r>
              <a:t>[GLOBAL LESSONS]</a:t>
            </a:r>
          </a:p>
          <a:p>
            <a:pPr>
              <a:spcAft>
                <a:spcPts val="400"/>
              </a:spcAft>
              <a:defRPr sz="1150" b="1">
                <a:solidFill>
                  <a:srgbClr val="FFFFFF"/>
                </a:solidFill>
                <a:latin typeface="Trebuchet MS"/>
              </a:defRPr>
            </a:pPr>
            <a:r>
              <a:t>International Voting Case Studies</a:t>
            </a:r>
          </a:p>
          <a:p>
            <a:pPr>
              <a:spcAft>
                <a:spcPts val="250"/>
              </a:spcAft>
              <a:defRPr sz="880">
                <a:solidFill>
                  <a:srgbClr val="E2E8F0"/>
                </a:solidFill>
                <a:latin typeface="Segoe UI"/>
              </a:defRPr>
            </a:pPr>
            <a:r>
              <a:t>• Estonia (i-Voting): 47% vote online, but requires high trust and cannot eliminate booth coercion.</a:t>
            </a:r>
          </a:p>
          <a:p>
            <a:pPr>
              <a:spcAft>
                <a:spcPts val="250"/>
              </a:spcAft>
              <a:defRPr sz="880">
                <a:solidFill>
                  <a:srgbClr val="E2E8F0"/>
                </a:solidFill>
                <a:latin typeface="Segoe UI"/>
              </a:defRPr>
            </a:pPr>
            <a:r>
              <a:t>• Brazil (Biometric EVMs): Fingerprint authentication reduced impersonation, but suffered worn-fingerprint fails.</a:t>
            </a:r>
          </a:p>
          <a:p>
            <a:pPr>
              <a:spcAft>
                <a:spcPts val="250"/>
              </a:spcAft>
              <a:defRPr sz="880">
                <a:solidFill>
                  <a:srgbClr val="E2E8F0"/>
                </a:solidFill>
                <a:latin typeface="Segoe UI"/>
              </a:defRPr>
            </a:pPr>
            <a:r>
              <a:t>• United States (Direct Recording Electronic): Transitioned back to paper-backed machines for trust.</a:t>
            </a:r>
          </a:p>
          <a:p>
            <a:pPr>
              <a:spcAft>
                <a:spcPts val="250"/>
              </a:spcAft>
              <a:defRPr sz="880">
                <a:solidFill>
                  <a:srgbClr val="E2E8F0"/>
                </a:solidFill>
                <a:latin typeface="Segoe UI"/>
              </a:defRPr>
            </a:pPr>
            <a:r>
              <a:t>• Key Takeaway: Digital speed must be anchored by an immediate, physical paper receipt (VVPAT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PROBLEM DEFINITION</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Problem Statement Evolution: Surface Symptoms to Root UX</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Framing an actionable, human-centered 'How Might We' design vector.</a:t>
            </a:r>
          </a:p>
        </p:txBody>
      </p:sp>
      <p:sp>
        <p:nvSpPr>
          <p:cNvPr id="6" name="Rounded Rectangle 5"/>
          <p:cNvSpPr/>
          <p:nvPr/>
        </p:nvSpPr>
        <p:spPr>
          <a:xfrm>
            <a:off x="731520" y="1645920"/>
            <a:ext cx="5212080" cy="4389120"/>
          </a:xfrm>
          <a:prstGeom prst="roundRect">
            <a:avLst/>
          </a:prstGeom>
          <a:solidFill>
            <a:srgbClr val="141D2F"/>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EF4444"/>
                </a:solidFill>
                <a:latin typeface="Consolas"/>
              </a:defRPr>
            </a:pPr>
            <a:r>
              <a:t>[SURFACE PROBLEM]</a:t>
            </a:r>
          </a:p>
          <a:p>
            <a:pPr>
              <a:spcAft>
                <a:spcPts val="400"/>
              </a:spcAft>
              <a:defRPr sz="1150" b="1">
                <a:solidFill>
                  <a:srgbClr val="FFFFFF"/>
                </a:solidFill>
                <a:latin typeface="Trebuchet MS"/>
              </a:defRPr>
            </a:pPr>
            <a:r>
              <a:t>Initial Problem Statement (Symptom-Level)</a:t>
            </a:r>
          </a:p>
          <a:p>
            <a:pPr>
              <a:spcAft>
                <a:spcPts val="250"/>
              </a:spcAft>
              <a:defRPr sz="880">
                <a:solidFill>
                  <a:srgbClr val="E2E8F0"/>
                </a:solidFill>
                <a:latin typeface="Segoe UI"/>
              </a:defRPr>
            </a:pPr>
            <a:r>
              <a:t>• "Traditional voting machines in India cause long queues, suffer from voter fraud, and require citizens to carry physical ID cards that get lost. Elderly, disabled, and illiterate voters find EVM buttons confusing and lack adequate assistance in polling booths."</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Limitation of Symptom-Level Framing:</a:t>
            </a:r>
          </a:p>
          <a:p>
            <a:pPr>
              <a:spcAft>
                <a:spcPts val="250"/>
              </a:spcAft>
              <a:defRPr sz="880">
                <a:solidFill>
                  <a:srgbClr val="E2E8F0"/>
                </a:solidFill>
                <a:latin typeface="Segoe UI"/>
              </a:defRPr>
            </a:pPr>
            <a:r>
              <a:t>• • Diagnoses surface complaints without examining biometric privacy architectures.</a:t>
            </a:r>
          </a:p>
          <a:p>
            <a:pPr>
              <a:spcAft>
                <a:spcPts val="250"/>
              </a:spcAft>
              <a:defRPr sz="880">
                <a:solidFill>
                  <a:srgbClr val="E2E8F0"/>
                </a:solidFill>
                <a:latin typeface="Segoe UI"/>
              </a:defRPr>
            </a:pPr>
            <a:r>
              <a:t>• • Fails to account for secret-ballot decoupling guarantees.</a:t>
            </a:r>
          </a:p>
          <a:p>
            <a:pPr>
              <a:spcAft>
                <a:spcPts val="250"/>
              </a:spcAft>
              <a:defRPr sz="880">
                <a:solidFill>
                  <a:srgbClr val="E2E8F0"/>
                </a:solidFill>
                <a:latin typeface="Segoe UI"/>
              </a:defRPr>
            </a:pPr>
            <a:r>
              <a:t>• • Omits multimodal duality (voice + touch equality).</a:t>
            </a:r>
          </a:p>
          <a:p>
            <a:pPr>
              <a:spcAft>
                <a:spcPts val="250"/>
              </a:spcAft>
              <a:defRPr sz="880">
                <a:solidFill>
                  <a:srgbClr val="E2E8F0"/>
                </a:solidFill>
                <a:latin typeface="Segoe UI"/>
              </a:defRPr>
            </a:pPr>
            <a:r>
              <a:t>• • Does not establish quantifiable speed and throughput benchmarks.</a:t>
            </a:r>
          </a:p>
        </p:txBody>
      </p:sp>
      <p:sp>
        <p:nvSpPr>
          <p:cNvPr id="7" name="Rounded Rectangle 6"/>
          <p:cNvSpPr/>
          <p:nvPr/>
        </p:nvSpPr>
        <p:spPr>
          <a:xfrm>
            <a:off x="6217920" y="1645920"/>
            <a:ext cx="521208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[REFINED MANDATE]</a:t>
            </a:r>
          </a:p>
          <a:p>
            <a:pPr>
              <a:spcAft>
                <a:spcPts val="400"/>
              </a:spcAft>
              <a:defRPr sz="1150" b="1">
                <a:solidFill>
                  <a:srgbClr val="FFFFFF"/>
                </a:solidFill>
                <a:latin typeface="Trebuchet MS"/>
              </a:defRPr>
            </a:pPr>
            <a:r>
              <a:t>Refined Problem Statement (How Might We)</a:t>
            </a:r>
          </a:p>
          <a:p>
            <a:pPr>
              <a:spcAft>
                <a:spcPts val="250"/>
              </a:spcAft>
              <a:defRPr sz="880">
                <a:solidFill>
                  <a:srgbClr val="E2E8F0"/>
                </a:solidFill>
                <a:latin typeface="Segoe UI"/>
              </a:defRPr>
            </a:pPr>
            <a:r>
              <a:t>• "How might we design a touchless, biometric iris-authenticated voting kiosk and multimodal (voice + tactile) interaction system for 1 billion citizens that cuts voting time to under 60 seconds, eliminates voter fraud by 95%+, and enables every citizen—regardless of literacy, age, or visual disability—to vote 100% unassisted with absolute secret-ballot privacy and a physical paper audit trail (VVPAT 2.0)?"</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Systemic Impact of Refined Vector:</a:t>
            </a:r>
          </a:p>
          <a:p>
            <a:pPr>
              <a:spcAft>
                <a:spcPts val="250"/>
              </a:spcAft>
              <a:defRPr sz="880">
                <a:solidFill>
                  <a:srgbClr val="E2E8F0"/>
                </a:solidFill>
                <a:latin typeface="Segoe UI"/>
              </a:defRPr>
            </a:pPr>
            <a:r>
              <a:t>• • Establishes sub-60-second throughput as a strict UX benchmark.</a:t>
            </a:r>
          </a:p>
          <a:p>
            <a:pPr>
              <a:spcAft>
                <a:spcPts val="250"/>
              </a:spcAft>
              <a:defRPr sz="880">
                <a:solidFill>
                  <a:srgbClr val="E2E8F0"/>
                </a:solidFill>
                <a:latin typeface="Segoe UI"/>
              </a:defRPr>
            </a:pPr>
            <a:r>
              <a:t>• • Guarantees 100% unassisted voting for marginalized citizen cohorts.</a:t>
            </a:r>
          </a:p>
          <a:p>
            <a:pPr>
              <a:spcAft>
                <a:spcPts val="250"/>
              </a:spcAft>
              <a:defRPr sz="880">
                <a:solidFill>
                  <a:srgbClr val="E2E8F0"/>
                </a:solidFill>
                <a:latin typeface="Segoe UI"/>
              </a:defRPr>
            </a:pPr>
            <a:r>
              <a:t>• • Enforces mathematical privacy: biometrics unlock a session, then vanish.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EMPATHY MAPPING</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Empathy Maps: 4 Quadrants Across Core Citizen Archetypes</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Synthesizing what voters and officers Say, Think, Do, and Feel in the polling booth.</a:t>
            </a:r>
          </a:p>
        </p:txBody>
      </p:sp>
      <p:sp>
        <p:nvSpPr>
          <p:cNvPr id="6" name="Rounded Rectangle 5"/>
          <p:cNvSpPr/>
          <p:nvPr/>
        </p:nvSpPr>
        <p:spPr>
          <a:xfrm>
            <a:off x="731520" y="1645920"/>
            <a:ext cx="2468880" cy="4389120"/>
          </a:xfrm>
          <a:prstGeom prst="roundRect">
            <a:avLst/>
          </a:prstGeom>
          <a:solidFill>
            <a:srgbClr val="141D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F59E0B"/>
                </a:solidFill>
                <a:latin typeface="Consolas"/>
              </a:defRPr>
            </a:pPr>
            <a:r>
              <a:t>[KIRAN DEVI ARCHETYPE]</a:t>
            </a:r>
          </a:p>
          <a:p>
            <a:pPr>
              <a:spcAft>
                <a:spcPts val="400"/>
              </a:spcAft>
              <a:defRPr sz="1150" b="1">
                <a:solidFill>
                  <a:srgbClr val="FFFFFF"/>
                </a:solidFill>
                <a:latin typeface="Trebuchet MS"/>
              </a:defRPr>
            </a:pPr>
            <a:r>
              <a:t>Rural Non-Reader</a:t>
            </a:r>
          </a:p>
          <a:p>
            <a:pPr>
              <a:spcAft>
                <a:spcPts val="250"/>
              </a:spcAft>
              <a:defRPr sz="880">
                <a:solidFill>
                  <a:srgbClr val="E2E8F0"/>
                </a:solidFill>
                <a:latin typeface="Segoe UI"/>
              </a:defRPr>
            </a:pPr>
            <a:r>
              <a:t>• SAYS: "Where is the party symbol? Can someone help me press?"</a:t>
            </a:r>
          </a:p>
          <a:p>
            <a:pPr>
              <a:spcAft>
                <a:spcPts val="250"/>
              </a:spcAft>
              <a:defRPr sz="880">
                <a:solidFill>
                  <a:srgbClr val="E2E8F0"/>
                </a:solidFill>
                <a:latin typeface="Segoe UI"/>
              </a:defRPr>
            </a:pPr>
            <a:r>
              <a:t>• THINKS: "I hope I don't look foolish or press the wrong candidate."</a:t>
            </a:r>
          </a:p>
          <a:p>
            <a:pPr>
              <a:spcAft>
                <a:spcPts val="250"/>
              </a:spcAft>
              <a:defRPr sz="880">
                <a:solidFill>
                  <a:srgbClr val="E2E8F0"/>
                </a:solidFill>
                <a:latin typeface="Segoe UI"/>
              </a:defRPr>
            </a:pPr>
            <a:r>
              <a:t>• DOES: Squints closely at EVM; waits for companion guidance.</a:t>
            </a:r>
          </a:p>
          <a:p>
            <a:pPr>
              <a:spcAft>
                <a:spcPts val="250"/>
              </a:spcAft>
              <a:defRPr sz="880">
                <a:solidFill>
                  <a:srgbClr val="E2E8F0"/>
                </a:solidFill>
                <a:latin typeface="Segoe UI"/>
              </a:defRPr>
            </a:pPr>
            <a:r>
              <a:t>• FEELS: Anxious, intimidated by technology, protective of vote.</a:t>
            </a:r>
          </a:p>
          <a:p>
            <a:pPr>
              <a:spcAft>
                <a:spcPts val="250"/>
              </a:spcAft>
              <a:defRPr sz="880">
                <a:solidFill>
                  <a:srgbClr val="E2E8F0"/>
                </a:solidFill>
                <a:latin typeface="Segoe UI"/>
              </a:defRPr>
            </a:pPr>
            <a:r>
              <a:t>• UX NEED: Spoken audio in native tongue, massive symbol tiles.</a:t>
            </a:r>
          </a:p>
        </p:txBody>
      </p:sp>
      <p:sp>
        <p:nvSpPr>
          <p:cNvPr id="7" name="Rounded Rectangle 6"/>
          <p:cNvSpPr/>
          <p:nvPr/>
        </p:nvSpPr>
        <p:spPr>
          <a:xfrm>
            <a:off x="3474720" y="1645920"/>
            <a:ext cx="2468880" cy="4389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[ADITYA SHARMA ARCHETYPE]</a:t>
            </a:r>
          </a:p>
          <a:p>
            <a:pPr>
              <a:spcAft>
                <a:spcPts val="400"/>
              </a:spcAft>
              <a:defRPr sz="1150" b="1">
                <a:solidFill>
                  <a:srgbClr val="FFFFFF"/>
                </a:solidFill>
                <a:latin typeface="Trebuchet MS"/>
              </a:defRPr>
            </a:pPr>
            <a:r>
              <a:t>Urban Tech Native</a:t>
            </a:r>
          </a:p>
          <a:p>
            <a:pPr>
              <a:spcAft>
                <a:spcPts val="250"/>
              </a:spcAft>
              <a:defRPr sz="880">
                <a:solidFill>
                  <a:srgbClr val="E2E8F0"/>
                </a:solidFill>
                <a:latin typeface="Segoe UI"/>
              </a:defRPr>
            </a:pPr>
            <a:r>
              <a:t>• SAYS: "Why does this take so long? Is this machine hackable?"</a:t>
            </a:r>
          </a:p>
          <a:p>
            <a:pPr>
              <a:spcAft>
                <a:spcPts val="250"/>
              </a:spcAft>
              <a:defRPr sz="880">
                <a:solidFill>
                  <a:srgbClr val="E2E8F0"/>
                </a:solidFill>
                <a:latin typeface="Segoe UI"/>
              </a:defRPr>
            </a:pPr>
            <a:r>
              <a:t>• THINKS: "I want cryptographic proof that my vote was counted."</a:t>
            </a:r>
          </a:p>
          <a:p>
            <a:pPr>
              <a:spcAft>
                <a:spcPts val="250"/>
              </a:spcAft>
              <a:defRPr sz="880">
                <a:solidFill>
                  <a:srgbClr val="E2E8F0"/>
                </a:solidFill>
                <a:latin typeface="Segoe UI"/>
              </a:defRPr>
            </a:pPr>
            <a:r>
              <a:t>• DOES: Taps quickly; expects instant digital confirmation.</a:t>
            </a:r>
          </a:p>
          <a:p>
            <a:pPr>
              <a:spcAft>
                <a:spcPts val="250"/>
              </a:spcAft>
              <a:defRPr sz="880">
                <a:solidFill>
                  <a:srgbClr val="E2E8F0"/>
                </a:solidFill>
                <a:latin typeface="Segoe UI"/>
              </a:defRPr>
            </a:pPr>
            <a:r>
              <a:t>• FEELS: Impatient with manual paper rolls, skeptical of booth rigging.</a:t>
            </a:r>
          </a:p>
          <a:p>
            <a:pPr>
              <a:spcAft>
                <a:spcPts val="250"/>
              </a:spcAft>
              <a:defRPr sz="880">
                <a:solidFill>
                  <a:srgbClr val="E2E8F0"/>
                </a:solidFill>
                <a:latin typeface="Segoe UI"/>
              </a:defRPr>
            </a:pPr>
            <a:r>
              <a:t>• UX NEED: Instant 1.8s iris unlock, verifiable VVPAT receipt.</a:t>
            </a:r>
          </a:p>
        </p:txBody>
      </p:sp>
      <p:sp>
        <p:nvSpPr>
          <p:cNvPr id="8" name="Rounded Rectangle 7"/>
          <p:cNvSpPr/>
          <p:nvPr/>
        </p:nvSpPr>
        <p:spPr>
          <a:xfrm>
            <a:off x="6217920" y="1645920"/>
            <a:ext cx="2468880" cy="4389120"/>
          </a:xfrm>
          <a:prstGeom prst="roundRect">
            <a:avLst/>
          </a:prstGeom>
          <a:solidFill>
            <a:srgbClr val="141D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A855F7"/>
                </a:solidFill>
                <a:latin typeface="Consolas"/>
              </a:defRPr>
            </a:pPr>
            <a:r>
              <a:t>[MOHAMMED RAFEEQ]</a:t>
            </a:r>
          </a:p>
          <a:p>
            <a:pPr>
              <a:spcAft>
                <a:spcPts val="400"/>
              </a:spcAft>
              <a:defRPr sz="1150" b="1">
                <a:solidFill>
                  <a:srgbClr val="FFFFFF"/>
                </a:solidFill>
                <a:latin typeface="Trebuchet MS"/>
              </a:defRPr>
            </a:pPr>
            <a:r>
              <a:t>Visually Impaired Voter</a:t>
            </a:r>
          </a:p>
          <a:p>
            <a:pPr>
              <a:spcAft>
                <a:spcPts val="250"/>
              </a:spcAft>
              <a:defRPr sz="880">
                <a:solidFill>
                  <a:srgbClr val="E2E8F0"/>
                </a:solidFill>
                <a:latin typeface="Segoe UI"/>
              </a:defRPr>
            </a:pPr>
            <a:r>
              <a:t>• SAYS: "Please don't look at who I vote for. Let me do it myself."</a:t>
            </a:r>
          </a:p>
          <a:p>
            <a:pPr>
              <a:spcAft>
                <a:spcPts val="250"/>
              </a:spcAft>
              <a:defRPr sz="880">
                <a:solidFill>
                  <a:srgbClr val="E2E8F0"/>
                </a:solidFill>
                <a:latin typeface="Segoe UI"/>
              </a:defRPr>
            </a:pPr>
            <a:r>
              <a:t>• THINKS: "I am giving up my democratic secrecy to a stranger."</a:t>
            </a:r>
          </a:p>
          <a:p>
            <a:pPr>
              <a:spcAft>
                <a:spcPts val="250"/>
              </a:spcAft>
              <a:defRPr sz="880">
                <a:solidFill>
                  <a:srgbClr val="E2E8F0"/>
                </a:solidFill>
                <a:latin typeface="Segoe UI"/>
              </a:defRPr>
            </a:pPr>
            <a:r>
              <a:t>• DOES: Feels for worn Braille labels; listens for acoustic cues.</a:t>
            </a:r>
          </a:p>
          <a:p>
            <a:pPr>
              <a:spcAft>
                <a:spcPts val="250"/>
              </a:spcAft>
              <a:defRPr sz="880">
                <a:solidFill>
                  <a:srgbClr val="E2E8F0"/>
                </a:solidFill>
                <a:latin typeface="Segoe UI"/>
              </a:defRPr>
            </a:pPr>
            <a:r>
              <a:t>• FEELS: Dignity compromised, dependent, frustrated.</a:t>
            </a:r>
          </a:p>
          <a:p>
            <a:pPr>
              <a:spcAft>
                <a:spcPts val="250"/>
              </a:spcAft>
              <a:defRPr sz="880">
                <a:solidFill>
                  <a:srgbClr val="E2E8F0"/>
                </a:solidFill>
                <a:latin typeface="Segoe UI"/>
              </a:defRPr>
            </a:pPr>
            <a:r>
              <a:t>• UX NEED: Directional private speakers, conversational voice IVR.</a:t>
            </a:r>
          </a:p>
        </p:txBody>
      </p:sp>
      <p:sp>
        <p:nvSpPr>
          <p:cNvPr id="9" name="Rounded Rectangle 8"/>
          <p:cNvSpPr/>
          <p:nvPr/>
        </p:nvSpPr>
        <p:spPr>
          <a:xfrm>
            <a:off x="8961120" y="1645920"/>
            <a:ext cx="2468880" cy="4389120"/>
          </a:xfrm>
          <a:prstGeom prst="roundRect">
            <a:avLst/>
          </a:prstGeom>
          <a:solidFill>
            <a:srgbClr val="141D2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2563EB"/>
                </a:solidFill>
                <a:latin typeface="Consolas"/>
              </a:defRPr>
            </a:pPr>
            <a:r>
              <a:t>[OFFICER RAJESH VERMA]</a:t>
            </a:r>
          </a:p>
          <a:p>
            <a:pPr>
              <a:spcAft>
                <a:spcPts val="400"/>
              </a:spcAft>
              <a:defRPr sz="1150" b="1">
                <a:solidFill>
                  <a:srgbClr val="FFFFFF"/>
                </a:solidFill>
                <a:latin typeface="Trebuchet MS"/>
              </a:defRPr>
            </a:pPr>
            <a:r>
              <a:t>Presiding Polling Officer</a:t>
            </a:r>
          </a:p>
          <a:p>
            <a:pPr>
              <a:spcAft>
                <a:spcPts val="250"/>
              </a:spcAft>
              <a:defRPr sz="880">
                <a:solidFill>
                  <a:srgbClr val="E2E8F0"/>
                </a:solidFill>
                <a:latin typeface="Segoe UI"/>
              </a:defRPr>
            </a:pPr>
            <a:r>
              <a:t>• SAYS: "Please keep the line moving. Where is your slip?"</a:t>
            </a:r>
          </a:p>
          <a:p>
            <a:pPr>
              <a:spcAft>
                <a:spcPts val="250"/>
              </a:spcAft>
              <a:defRPr sz="880">
                <a:solidFill>
                  <a:srgbClr val="E2E8F0"/>
                </a:solidFill>
                <a:latin typeface="Segoe UI"/>
              </a:defRPr>
            </a:pPr>
            <a:r>
              <a:t>• THINKS: "If this machine glitches, I have a crowd riot to manage."</a:t>
            </a:r>
          </a:p>
          <a:p>
            <a:pPr>
              <a:spcAft>
                <a:spcPts val="250"/>
              </a:spcAft>
              <a:defRPr sz="880">
                <a:solidFill>
                  <a:srgbClr val="E2E8F0"/>
                </a:solidFill>
                <a:latin typeface="Segoe UI"/>
              </a:defRPr>
            </a:pPr>
            <a:r>
              <a:t>• DOES: Flips through thick paper registers; handles heated disputes.</a:t>
            </a:r>
          </a:p>
          <a:p>
            <a:pPr>
              <a:spcAft>
                <a:spcPts val="250"/>
              </a:spcAft>
              <a:defRPr sz="880">
                <a:solidFill>
                  <a:srgbClr val="E2E8F0"/>
                </a:solidFill>
                <a:latin typeface="Segoe UI"/>
              </a:defRPr>
            </a:pPr>
            <a:r>
              <a:t>• FEELS: Overwhelmed, stressed by queue bottlenecks.</a:t>
            </a:r>
          </a:p>
          <a:p>
            <a:pPr>
              <a:spcAft>
                <a:spcPts val="250"/>
              </a:spcAft>
              <a:defRPr sz="880">
                <a:solidFill>
                  <a:srgbClr val="E2E8F0"/>
                </a:solidFill>
                <a:latin typeface="Segoe UI"/>
              </a:defRPr>
            </a:pPr>
            <a:r>
              <a:t>• UX NEED: Automated check-in, clear 3-attempt retry governor.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USER PERSONAS</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Personas 1 &amp; 2: Rural Non-Reader vs. Urban Tech Native</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Balancing low-literacy acoustic support with sub-60-second digital precision.</a:t>
            </a:r>
          </a:p>
        </p:txBody>
      </p:sp>
      <p:sp>
        <p:nvSpPr>
          <p:cNvPr id="6" name="Rounded Rectangle 5"/>
          <p:cNvSpPr/>
          <p:nvPr/>
        </p:nvSpPr>
        <p:spPr>
          <a:xfrm>
            <a:off x="731520" y="1645920"/>
            <a:ext cx="2011680" cy="4389120"/>
          </a:xfrm>
          <a:prstGeom prst="roundRect">
            <a:avLst/>
          </a:prstGeom>
          <a:solidFill>
            <a:srgbClr val="141D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sona_kiran.jpg"/>
          <p:cNvPicPr>
            <a:picLocks noChangeAspect="1"/>
          </p:cNvPicPr>
          <p:nvPr/>
        </p:nvPicPr>
        <p:blipFill>
          <a:blip r:embed="rId2"/>
          <a:stretch>
            <a:fillRect/>
          </a:stretch>
        </p:blipFill>
        <p:spPr>
          <a:xfrm>
            <a:off x="804672" y="1719072"/>
            <a:ext cx="1865376" cy="3749039"/>
          </a:xfrm>
          <a:prstGeom prst="rect">
            <a:avLst/>
          </a:prstGeom>
        </p:spPr>
      </p:pic>
      <p:sp>
        <p:nvSpPr>
          <p:cNvPr id="8" name="TextBox 7"/>
          <p:cNvSpPr txBox="1"/>
          <p:nvPr/>
        </p:nvSpPr>
        <p:spPr>
          <a:xfrm>
            <a:off x="822960" y="5440679"/>
            <a:ext cx="1828800" cy="502920"/>
          </a:xfrm>
          <a:prstGeom prst="rect">
            <a:avLst/>
          </a:prstGeom>
          <a:noFill/>
        </p:spPr>
        <p:txBody>
          <a:bodyPr wrap="square">
            <a:spAutoFit/>
          </a:bodyPr>
          <a:lstStyle/>
          <a:p>
            <a:pPr>
              <a:defRPr sz="950" b="1">
                <a:solidFill>
                  <a:srgbClr val="FFFFFF"/>
                </a:solidFill>
                <a:latin typeface="Trebuchet MS"/>
              </a:defRPr>
            </a:pPr>
            <a:r>
              <a:t>Kiran Devi (72)</a:t>
            </a:r>
          </a:p>
          <a:p>
            <a:pPr>
              <a:defRPr sz="750">
                <a:solidFill>
                  <a:srgbClr val="94A3B8"/>
                </a:solidFill>
                <a:latin typeface="Segoe UI"/>
              </a:defRPr>
            </a:pPr>
            <a:r>
              <a:t>Farmer • Rural Bihar • Bhojpuri</a:t>
            </a:r>
          </a:p>
        </p:txBody>
      </p:sp>
      <p:sp>
        <p:nvSpPr>
          <p:cNvPr id="9" name="Rounded Rectangle 8"/>
          <p:cNvSpPr/>
          <p:nvPr/>
        </p:nvSpPr>
        <p:spPr>
          <a:xfrm>
            <a:off x="2926080" y="1645920"/>
            <a:ext cx="2834640" cy="4389120"/>
          </a:xfrm>
          <a:prstGeom prst="roundRect">
            <a:avLst/>
          </a:prstGeom>
          <a:solidFill>
            <a:srgbClr val="141D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F59E0B"/>
                </a:solidFill>
                <a:latin typeface="Consolas"/>
              </a:defRPr>
            </a:pPr>
            <a:r>
              <a:t>[RURAL LOW LITERACY]</a:t>
            </a:r>
          </a:p>
          <a:p>
            <a:pPr>
              <a:spcAft>
                <a:spcPts val="400"/>
              </a:spcAft>
              <a:defRPr sz="1150" b="1">
                <a:solidFill>
                  <a:srgbClr val="FFFFFF"/>
                </a:solidFill>
                <a:latin typeface="Trebuchet MS"/>
              </a:defRPr>
            </a:pPr>
            <a:r>
              <a:t>Persona 1 Profile &amp; UX</a:t>
            </a:r>
          </a:p>
          <a:p>
            <a:pPr>
              <a:spcAft>
                <a:spcPts val="250"/>
              </a:spcAft>
              <a:defRPr sz="880">
                <a:solidFill>
                  <a:srgbClr val="E2E8F0"/>
                </a:solidFill>
                <a:latin typeface="Segoe UI"/>
              </a:defRPr>
            </a:pPr>
            <a:r>
              <a:t>• Background: Grandmother &amp; farmer. Non-reader, speaks Bhojpuri/Hindi.</a:t>
            </a:r>
          </a:p>
          <a:p>
            <a:pPr>
              <a:spcAft>
                <a:spcPts val="250"/>
              </a:spcAft>
              <a:defRPr sz="880">
                <a:solidFill>
                  <a:srgbClr val="E2E8F0"/>
                </a:solidFill>
                <a:latin typeface="Segoe UI"/>
              </a:defRPr>
            </a:pPr>
            <a:r>
              <a:t>• Pain Point 1: Misplaces paper slips before polling day; turned away.</a:t>
            </a:r>
          </a:p>
          <a:p>
            <a:pPr>
              <a:spcAft>
                <a:spcPts val="250"/>
              </a:spcAft>
              <a:defRPr sz="880">
                <a:solidFill>
                  <a:srgbClr val="E2E8F0"/>
                </a:solidFill>
                <a:latin typeface="Segoe UI"/>
              </a:defRPr>
            </a:pPr>
            <a:r>
              <a:t>• Pain Point 2: Confused by small EVM buttons; fears mistakes.</a:t>
            </a:r>
          </a:p>
          <a:p>
            <a:pPr>
              <a:spcAft>
                <a:spcPts val="250"/>
              </a:spcAft>
              <a:defRPr sz="880">
                <a:solidFill>
                  <a:srgbClr val="E2E8F0"/>
                </a:solidFill>
                <a:latin typeface="Segoe UI"/>
              </a:defRPr>
            </a:pPr>
            <a:r>
              <a:t>• Pain Point 3: Relies on companions who compromise vote secrecy.</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Nayan Vote Solution:</a:t>
            </a:r>
          </a:p>
          <a:p>
            <a:pPr>
              <a:spcAft>
                <a:spcPts val="250"/>
              </a:spcAft>
              <a:defRPr sz="880">
                <a:solidFill>
                  <a:srgbClr val="E2E8F0"/>
                </a:solidFill>
                <a:latin typeface="Segoe UI"/>
              </a:defRPr>
            </a:pPr>
            <a:r>
              <a:t>• • Contactless iris scan requires zero cards or paper slips.</a:t>
            </a:r>
          </a:p>
          <a:p>
            <a:pPr>
              <a:spcAft>
                <a:spcPts val="250"/>
              </a:spcAft>
              <a:defRPr sz="880">
                <a:solidFill>
                  <a:srgbClr val="E2E8F0"/>
                </a:solidFill>
                <a:latin typeface="Segoe UI"/>
              </a:defRPr>
            </a:pPr>
            <a:r>
              <a:t>• • Spoken audio greeting &amp; guidance in Bhojpuri/Hindi.</a:t>
            </a:r>
          </a:p>
          <a:p>
            <a:pPr>
              <a:spcAft>
                <a:spcPts val="250"/>
              </a:spcAft>
              <a:defRPr sz="880">
                <a:solidFill>
                  <a:srgbClr val="E2E8F0"/>
                </a:solidFill>
                <a:latin typeface="Segoe UI"/>
              </a:defRPr>
            </a:pPr>
            <a:r>
              <a:t>• • Giant high-contrast party symbols for unassisted voting.</a:t>
            </a:r>
          </a:p>
        </p:txBody>
      </p:sp>
      <p:sp>
        <p:nvSpPr>
          <p:cNvPr id="10" name="Rounded Rectangle 9"/>
          <p:cNvSpPr/>
          <p:nvPr/>
        </p:nvSpPr>
        <p:spPr>
          <a:xfrm>
            <a:off x="6217920" y="1645920"/>
            <a:ext cx="2011680" cy="4389120"/>
          </a:xfrm>
          <a:prstGeom prst="roundRect">
            <a:avLst/>
          </a:prstGeom>
          <a:solidFill>
            <a:srgbClr val="141D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ersona_aditya.jpg"/>
          <p:cNvPicPr>
            <a:picLocks noChangeAspect="1"/>
          </p:cNvPicPr>
          <p:nvPr/>
        </p:nvPicPr>
        <p:blipFill>
          <a:blip r:embed="rId3"/>
          <a:stretch>
            <a:fillRect/>
          </a:stretch>
        </p:blipFill>
        <p:spPr>
          <a:xfrm>
            <a:off x="6291072" y="1719072"/>
            <a:ext cx="1865376" cy="3749039"/>
          </a:xfrm>
          <a:prstGeom prst="rect">
            <a:avLst/>
          </a:prstGeom>
        </p:spPr>
      </p:pic>
      <p:sp>
        <p:nvSpPr>
          <p:cNvPr id="12" name="TextBox 11"/>
          <p:cNvSpPr txBox="1"/>
          <p:nvPr/>
        </p:nvSpPr>
        <p:spPr>
          <a:xfrm>
            <a:off x="6309359" y="5440679"/>
            <a:ext cx="1828800" cy="502920"/>
          </a:xfrm>
          <a:prstGeom prst="rect">
            <a:avLst/>
          </a:prstGeom>
          <a:noFill/>
        </p:spPr>
        <p:txBody>
          <a:bodyPr wrap="square">
            <a:spAutoFit/>
          </a:bodyPr>
          <a:lstStyle/>
          <a:p>
            <a:pPr>
              <a:defRPr sz="950" b="1">
                <a:solidFill>
                  <a:srgbClr val="FFFFFF"/>
                </a:solidFill>
                <a:latin typeface="Trebuchet MS"/>
              </a:defRPr>
            </a:pPr>
            <a:r>
              <a:t>Aditya Sharma (24)</a:t>
            </a:r>
          </a:p>
          <a:p>
            <a:pPr>
              <a:defRPr sz="750">
                <a:solidFill>
                  <a:srgbClr val="94A3B8"/>
                </a:solidFill>
                <a:latin typeface="Segoe UI"/>
              </a:defRPr>
            </a:pPr>
            <a:r>
              <a:t>Software Engineer • Bengaluru</a:t>
            </a:r>
          </a:p>
        </p:txBody>
      </p:sp>
      <p:sp>
        <p:nvSpPr>
          <p:cNvPr id="13" name="Rounded Rectangle 12"/>
          <p:cNvSpPr/>
          <p:nvPr/>
        </p:nvSpPr>
        <p:spPr>
          <a:xfrm>
            <a:off x="8412480" y="1645920"/>
            <a:ext cx="3017520" cy="4389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[URBAN TECH NATIVE]</a:t>
            </a:r>
          </a:p>
          <a:p>
            <a:pPr>
              <a:spcAft>
                <a:spcPts val="400"/>
              </a:spcAft>
              <a:defRPr sz="1150" b="1">
                <a:solidFill>
                  <a:srgbClr val="FFFFFF"/>
                </a:solidFill>
                <a:latin typeface="Trebuchet MS"/>
              </a:defRPr>
            </a:pPr>
            <a:r>
              <a:t>Persona 2 Profile &amp; UX</a:t>
            </a:r>
          </a:p>
          <a:p>
            <a:pPr>
              <a:spcAft>
                <a:spcPts val="250"/>
              </a:spcAft>
              <a:defRPr sz="880">
                <a:solidFill>
                  <a:srgbClr val="E2E8F0"/>
                </a:solidFill>
                <a:latin typeface="Segoe UI"/>
              </a:defRPr>
            </a:pPr>
            <a:r>
              <a:t>• Background: Tech native, values rapid digital efficiency &amp; transparency.</a:t>
            </a:r>
          </a:p>
          <a:p>
            <a:pPr>
              <a:spcAft>
                <a:spcPts val="250"/>
              </a:spcAft>
              <a:defRPr sz="880">
                <a:solidFill>
                  <a:srgbClr val="E2E8F0"/>
                </a:solidFill>
                <a:latin typeface="Segoe UI"/>
              </a:defRPr>
            </a:pPr>
            <a:r>
              <a:t>• Pain Point 1: Hates standing in 2-hour queue on a workday.</a:t>
            </a:r>
          </a:p>
          <a:p>
            <a:pPr>
              <a:spcAft>
                <a:spcPts val="250"/>
              </a:spcAft>
              <a:defRPr sz="880">
                <a:solidFill>
                  <a:srgbClr val="E2E8F0"/>
                </a:solidFill>
                <a:latin typeface="Segoe UI"/>
              </a:defRPr>
            </a:pPr>
            <a:r>
              <a:t>• Pain Point 2: Skeptical about EVM hardware tampering.</a:t>
            </a:r>
          </a:p>
          <a:p>
            <a:pPr>
              <a:spcAft>
                <a:spcPts val="250"/>
              </a:spcAft>
              <a:defRPr sz="880">
                <a:solidFill>
                  <a:srgbClr val="E2E8F0"/>
                </a:solidFill>
                <a:latin typeface="Segoe UI"/>
              </a:defRPr>
            </a:pPr>
            <a:r>
              <a:t>• Pain Point 3: Frustrated by manual pen-and-paper rolls.</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Nayan Vote Solution:</a:t>
            </a:r>
          </a:p>
          <a:p>
            <a:pPr>
              <a:spcAft>
                <a:spcPts val="250"/>
              </a:spcAft>
              <a:defRPr sz="880">
                <a:solidFill>
                  <a:srgbClr val="E2E8F0"/>
                </a:solidFill>
                <a:latin typeface="Segoe UI"/>
              </a:defRPr>
            </a:pPr>
            <a:r>
              <a:t>• • 1.8-second near-IR iris authentication cuts total vote to 48s.</a:t>
            </a:r>
          </a:p>
          <a:p>
            <a:pPr>
              <a:spcAft>
                <a:spcPts val="250"/>
              </a:spcAft>
              <a:defRPr sz="880">
                <a:solidFill>
                  <a:srgbClr val="E2E8F0"/>
                </a:solidFill>
                <a:latin typeface="Segoe UI"/>
              </a:defRPr>
            </a:pPr>
            <a:r>
              <a:t>• • Cryptographic SHA-256 local ledger commit.</a:t>
            </a:r>
          </a:p>
          <a:p>
            <a:pPr>
              <a:spcAft>
                <a:spcPts val="250"/>
              </a:spcAft>
              <a:defRPr sz="880">
                <a:solidFill>
                  <a:srgbClr val="E2E8F0"/>
                </a:solidFill>
                <a:latin typeface="Segoe UI"/>
              </a:defRPr>
            </a:pPr>
            <a:r>
              <a:t>• • Instant physical thermal VVPAT 2.0 receipt visible behind glass.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USER PERSONAS</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Personas 3 &amp; 4: Assistive Voice-First vs. Polling Officer</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Designing for 100% blind unassisted secrecy and seamless booth crowd pacing.</a:t>
            </a:r>
          </a:p>
        </p:txBody>
      </p:sp>
      <p:sp>
        <p:nvSpPr>
          <p:cNvPr id="6" name="Rounded Rectangle 5"/>
          <p:cNvSpPr/>
          <p:nvPr/>
        </p:nvSpPr>
        <p:spPr>
          <a:xfrm>
            <a:off x="731520" y="1645920"/>
            <a:ext cx="2011680" cy="4389120"/>
          </a:xfrm>
          <a:prstGeom prst="roundRect">
            <a:avLst/>
          </a:prstGeom>
          <a:solidFill>
            <a:srgbClr val="141D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ersona_rafeeq.jpg"/>
          <p:cNvPicPr>
            <a:picLocks noChangeAspect="1"/>
          </p:cNvPicPr>
          <p:nvPr/>
        </p:nvPicPr>
        <p:blipFill>
          <a:blip r:embed="rId2"/>
          <a:stretch>
            <a:fillRect/>
          </a:stretch>
        </p:blipFill>
        <p:spPr>
          <a:xfrm>
            <a:off x="804672" y="1719072"/>
            <a:ext cx="1865376" cy="3749039"/>
          </a:xfrm>
          <a:prstGeom prst="rect">
            <a:avLst/>
          </a:prstGeom>
        </p:spPr>
      </p:pic>
      <p:sp>
        <p:nvSpPr>
          <p:cNvPr id="8" name="TextBox 7"/>
          <p:cNvSpPr txBox="1"/>
          <p:nvPr/>
        </p:nvSpPr>
        <p:spPr>
          <a:xfrm>
            <a:off x="822960" y="5440679"/>
            <a:ext cx="1828800" cy="502920"/>
          </a:xfrm>
          <a:prstGeom prst="rect">
            <a:avLst/>
          </a:prstGeom>
          <a:noFill/>
        </p:spPr>
        <p:txBody>
          <a:bodyPr wrap="square">
            <a:spAutoFit/>
          </a:bodyPr>
          <a:lstStyle/>
          <a:p>
            <a:pPr>
              <a:defRPr sz="950" b="1">
                <a:solidFill>
                  <a:srgbClr val="FFFFFF"/>
                </a:solidFill>
                <a:latin typeface="Trebuchet MS"/>
              </a:defRPr>
            </a:pPr>
            <a:r>
              <a:t>Mohammed Rafeeq (39)</a:t>
            </a:r>
          </a:p>
          <a:p>
            <a:pPr>
              <a:defRPr sz="750">
                <a:solidFill>
                  <a:srgbClr val="94A3B8"/>
                </a:solidFill>
                <a:latin typeface="Segoe UI"/>
              </a:defRPr>
            </a:pPr>
            <a:r>
              <a:t>Blind Educator • Hyderabad</a:t>
            </a:r>
          </a:p>
        </p:txBody>
      </p:sp>
      <p:sp>
        <p:nvSpPr>
          <p:cNvPr id="9" name="Rounded Rectangle 8"/>
          <p:cNvSpPr/>
          <p:nvPr/>
        </p:nvSpPr>
        <p:spPr>
          <a:xfrm>
            <a:off x="2926080" y="1645920"/>
            <a:ext cx="2834640" cy="4389120"/>
          </a:xfrm>
          <a:prstGeom prst="roundRect">
            <a:avLst/>
          </a:prstGeom>
          <a:solidFill>
            <a:srgbClr val="141D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A855F7"/>
                </a:solidFill>
                <a:latin typeface="Consolas"/>
              </a:defRPr>
            </a:pPr>
            <a:r>
              <a:t>[ACCESSIBILITY VOICE]</a:t>
            </a:r>
          </a:p>
          <a:p>
            <a:pPr>
              <a:spcAft>
                <a:spcPts val="400"/>
              </a:spcAft>
              <a:defRPr sz="1150" b="1">
                <a:solidFill>
                  <a:srgbClr val="FFFFFF"/>
                </a:solidFill>
                <a:latin typeface="Trebuchet MS"/>
              </a:defRPr>
            </a:pPr>
            <a:r>
              <a:t>Persona 3 Profile &amp; UX</a:t>
            </a:r>
          </a:p>
          <a:p>
            <a:pPr>
              <a:spcAft>
                <a:spcPts val="250"/>
              </a:spcAft>
              <a:defRPr sz="880">
                <a:solidFill>
                  <a:srgbClr val="E2E8F0"/>
                </a:solidFill>
                <a:latin typeface="Segoe UI"/>
              </a:defRPr>
            </a:pPr>
            <a:r>
              <a:t>• Background: High school history teacher. 100% blind, screen-reader user.</a:t>
            </a:r>
          </a:p>
          <a:p>
            <a:pPr>
              <a:spcAft>
                <a:spcPts val="250"/>
              </a:spcAft>
              <a:defRPr sz="880">
                <a:solidFill>
                  <a:srgbClr val="E2E8F0"/>
                </a:solidFill>
                <a:latin typeface="Segoe UI"/>
              </a:defRPr>
            </a:pPr>
            <a:r>
              <a:t>• Pain Point 1: Braille stickers on EVMs are worn smooth by midday.</a:t>
            </a:r>
          </a:p>
          <a:p>
            <a:pPr>
              <a:spcAft>
                <a:spcPts val="250"/>
              </a:spcAft>
              <a:defRPr sz="880">
                <a:solidFill>
                  <a:srgbClr val="E2E8F0"/>
                </a:solidFill>
                <a:latin typeface="Segoe UI"/>
              </a:defRPr>
            </a:pPr>
            <a:r>
              <a:t>• Pain Point 2: Companion accompanies him, stripping ballot secrecy.</a:t>
            </a:r>
          </a:p>
          <a:p>
            <a:pPr>
              <a:spcAft>
                <a:spcPts val="250"/>
              </a:spcAft>
              <a:defRPr sz="880">
                <a:solidFill>
                  <a:srgbClr val="E2E8F0"/>
                </a:solidFill>
                <a:latin typeface="Segoe UI"/>
              </a:defRPr>
            </a:pPr>
            <a:r>
              <a:t>• Pain Point 3: Public hesitation and anxiety in noisy booths.</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Nayan Vote Solution:</a:t>
            </a:r>
          </a:p>
          <a:p>
            <a:pPr>
              <a:spcAft>
                <a:spcPts val="250"/>
              </a:spcAft>
              <a:defRPr sz="880">
                <a:solidFill>
                  <a:srgbClr val="E2E8F0"/>
                </a:solidFill>
                <a:latin typeface="Segoe UI"/>
              </a:defRPr>
            </a:pPr>
            <a:r>
              <a:t>• • Directional acoustic speakers focus audio directly at his ears.</a:t>
            </a:r>
          </a:p>
          <a:p>
            <a:pPr>
              <a:spcAft>
                <a:spcPts val="250"/>
              </a:spcAft>
              <a:defRPr sz="880">
                <a:solidFill>
                  <a:srgbClr val="E2E8F0"/>
                </a:solidFill>
                <a:latin typeface="Segoe UI"/>
              </a:defRPr>
            </a:pPr>
            <a:r>
              <a:t>• • Conversational voice voting: 'Say Candidate number or name'.</a:t>
            </a:r>
          </a:p>
          <a:p>
            <a:pPr>
              <a:spcAft>
                <a:spcPts val="250"/>
              </a:spcAft>
              <a:defRPr sz="880">
                <a:solidFill>
                  <a:srgbClr val="E2E8F0"/>
                </a:solidFill>
                <a:latin typeface="Segoe UI"/>
              </a:defRPr>
            </a:pPr>
            <a:r>
              <a:t>• • Verbal confirmation loop: 'You said Candidate 2. Say Yes to confirm.'</a:t>
            </a:r>
          </a:p>
        </p:txBody>
      </p:sp>
      <p:sp>
        <p:nvSpPr>
          <p:cNvPr id="10" name="Rounded Rectangle 9"/>
          <p:cNvSpPr/>
          <p:nvPr/>
        </p:nvSpPr>
        <p:spPr>
          <a:xfrm>
            <a:off x="6217920" y="1645920"/>
            <a:ext cx="5212080" cy="4389120"/>
          </a:xfrm>
          <a:prstGeom prst="roundRect">
            <a:avLst/>
          </a:prstGeom>
          <a:solidFill>
            <a:srgbClr val="141D2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2563EB"/>
                </a:solidFill>
                <a:latin typeface="Consolas"/>
              </a:defRPr>
            </a:pPr>
            <a:r>
              <a:t>[ADMINISTRATIVE STAFF]</a:t>
            </a:r>
          </a:p>
          <a:p>
            <a:pPr>
              <a:spcAft>
                <a:spcPts val="400"/>
              </a:spcAft>
              <a:defRPr sz="1150" b="1">
                <a:solidFill>
                  <a:srgbClr val="FFFFFF"/>
                </a:solidFill>
                <a:latin typeface="Trebuchet MS"/>
              </a:defRPr>
            </a:pPr>
            <a:r>
              <a:t>Persona 4: Rajesh Verma (48) — Polling Presiding Officer</a:t>
            </a:r>
          </a:p>
          <a:p>
            <a:pPr>
              <a:spcAft>
                <a:spcPts val="250"/>
              </a:spcAft>
              <a:defRPr sz="880">
                <a:solidFill>
                  <a:srgbClr val="E2E8F0"/>
                </a:solidFill>
                <a:latin typeface="Segoe UI"/>
              </a:defRPr>
            </a:pPr>
            <a:r>
              <a:t>• Background: Senior state administrative officer responsible for managing Booth #04 (1,200 registered voters).</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Key Operational Frustrations:</a:t>
            </a:r>
          </a:p>
          <a:p>
            <a:pPr>
              <a:spcAft>
                <a:spcPts val="250"/>
              </a:spcAft>
              <a:defRPr sz="880">
                <a:solidFill>
                  <a:srgbClr val="E2E8F0"/>
                </a:solidFill>
                <a:latin typeface="Segoe UI"/>
              </a:defRPr>
            </a:pPr>
            <a:r>
              <a:t>• • Constant bottleneck at the paper roll verification desk (takes 1+ minute per voter).</a:t>
            </a:r>
          </a:p>
          <a:p>
            <a:pPr>
              <a:spcAft>
                <a:spcPts val="250"/>
              </a:spcAft>
              <a:defRPr sz="880">
                <a:solidFill>
                  <a:srgbClr val="E2E8F0"/>
                </a:solidFill>
                <a:latin typeface="Segoe UI"/>
              </a:defRPr>
            </a:pPr>
            <a:r>
              <a:t>• • Heated arguments over duplicate names, misprinted slips, and voter impersonation.</a:t>
            </a:r>
          </a:p>
          <a:p>
            <a:pPr>
              <a:spcAft>
                <a:spcPts val="250"/>
              </a:spcAft>
              <a:defRPr sz="880">
                <a:solidFill>
                  <a:srgbClr val="E2E8F0"/>
                </a:solidFill>
                <a:latin typeface="Segoe UI"/>
              </a:defRPr>
            </a:pPr>
            <a:r>
              <a:t>• • Anxious about hardware breakdowns or uncooperative voters halting the queue.</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Nayan Vote Administrative Solutions:</a:t>
            </a:r>
          </a:p>
          <a:p>
            <a:pPr>
              <a:spcAft>
                <a:spcPts val="250"/>
              </a:spcAft>
              <a:defRPr sz="880">
                <a:solidFill>
                  <a:srgbClr val="E2E8F0"/>
                </a:solidFill>
                <a:latin typeface="Segoe UI"/>
              </a:defRPr>
            </a:pPr>
            <a:r>
              <a:t>• • Automated Biometric Check-In: Instant matching clears queues 5x faster.</a:t>
            </a:r>
          </a:p>
          <a:p>
            <a:pPr>
              <a:spcAft>
                <a:spcPts val="250"/>
              </a:spcAft>
              <a:defRPr sz="880">
                <a:solidFill>
                  <a:srgbClr val="E2E8F0"/>
                </a:solidFill>
                <a:latin typeface="Segoe UI"/>
              </a:defRPr>
            </a:pPr>
            <a:r>
              <a:t>• • 3-Attempt Retry Governor: If biometrics fail after 3 scans, kiosk calmly routes voter to an exception desk.</a:t>
            </a:r>
          </a:p>
          <a:p>
            <a:pPr>
              <a:spcAft>
                <a:spcPts val="250"/>
              </a:spcAft>
              <a:defRPr sz="880">
                <a:solidFill>
                  <a:srgbClr val="E2E8F0"/>
                </a:solidFill>
                <a:latin typeface="Segoe UI"/>
              </a:defRPr>
            </a:pPr>
            <a:r>
              <a:t>• • Zero Queue Halts: Difficult edge cases do not block the primary voting stream.</a:t>
            </a:r>
          </a:p>
          <a:p>
            <a:pPr>
              <a:spcAft>
                <a:spcPts val="250"/>
              </a:spcAft>
              <a:defRPr sz="880">
                <a:solidFill>
                  <a:srgbClr val="E2E8F0"/>
                </a:solidFill>
                <a:latin typeface="Segoe UI"/>
              </a:defRPr>
            </a:pPr>
            <a:r>
              <a:t>• • End-of-Day Tally: Automatic air-gapped cryptographic reconciliation in seconds.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JOURNEY MAPPING</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End-to-End Voter Journey Map: 7 Touchpoint Stages</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Tracking voter actions, emotional progression, friction points, and UX opportunities.</a:t>
            </a:r>
          </a:p>
        </p:txBody>
      </p:sp>
      <p:sp>
        <p:nvSpPr>
          <p:cNvPr id="6" name="Rounded Rectangle 5"/>
          <p:cNvSpPr/>
          <p:nvPr/>
        </p:nvSpPr>
        <p:spPr>
          <a:xfrm>
            <a:off x="731520" y="1645920"/>
            <a:ext cx="1463040" cy="4389120"/>
          </a:xfrm>
          <a:prstGeom prst="roundRect">
            <a:avLst/>
          </a:prstGeom>
          <a:solidFill>
            <a:srgbClr val="141D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334155"/>
                </a:solidFill>
                <a:latin typeface="Consolas"/>
              </a:defRPr>
            </a:pPr>
            <a:r>
              <a:t>[ENTRY]</a:t>
            </a:r>
          </a:p>
          <a:p>
            <a:pPr>
              <a:spcAft>
                <a:spcPts val="400"/>
              </a:spcAft>
              <a:defRPr sz="1150" b="1">
                <a:solidFill>
                  <a:srgbClr val="FFFFFF"/>
                </a:solidFill>
                <a:latin typeface="Trebuchet MS"/>
              </a:defRPr>
            </a:pPr>
            <a:r>
              <a:t>1. Arrival</a:t>
            </a:r>
          </a:p>
          <a:p>
            <a:pPr>
              <a:spcAft>
                <a:spcPts val="250"/>
              </a:spcAft>
              <a:defRPr sz="880">
                <a:solidFill>
                  <a:srgbClr val="E2E8F0"/>
                </a:solidFill>
                <a:latin typeface="Segoe UI"/>
              </a:defRPr>
            </a:pPr>
            <a:r>
              <a:t>• Action: Enter polling canopy.</a:t>
            </a:r>
          </a:p>
          <a:p>
            <a:pPr>
              <a:spcAft>
                <a:spcPts val="250"/>
              </a:spcAft>
              <a:defRPr sz="880">
                <a:solidFill>
                  <a:srgbClr val="E2E8F0"/>
                </a:solidFill>
                <a:latin typeface="Segoe UI"/>
              </a:defRPr>
            </a:pPr>
            <a:r>
              <a:t>• Touchpoint: Queue guide signage.</a:t>
            </a:r>
          </a:p>
          <a:p>
            <a:pPr>
              <a:spcAft>
                <a:spcPts val="250"/>
              </a:spcAft>
              <a:defRPr sz="880">
                <a:solidFill>
                  <a:srgbClr val="E2E8F0"/>
                </a:solidFill>
                <a:latin typeface="Segoe UI"/>
              </a:defRPr>
            </a:pPr>
            <a:r>
              <a:t>• Emotion: 😐 Neutral (anticipating line).</a:t>
            </a:r>
          </a:p>
          <a:p>
            <a:pPr>
              <a:spcAft>
                <a:spcPts val="250"/>
              </a:spcAft>
              <a:defRPr sz="880">
                <a:solidFill>
                  <a:srgbClr val="E2E8F0"/>
                </a:solidFill>
                <a:latin typeface="Segoe UI"/>
              </a:defRPr>
            </a:pPr>
            <a:r>
              <a:t>• Pain Point: Lost paper slip worry.</a:t>
            </a:r>
          </a:p>
          <a:p>
            <a:pPr>
              <a:spcAft>
                <a:spcPts val="250"/>
              </a:spcAft>
              <a:defRPr sz="880">
                <a:solidFill>
                  <a:srgbClr val="E2E8F0"/>
                </a:solidFill>
                <a:latin typeface="Segoe UI"/>
              </a:defRPr>
            </a:pPr>
            <a:r>
              <a:t>• Opportunity: Zero-card signage ('No slip needed').</a:t>
            </a:r>
          </a:p>
        </p:txBody>
      </p:sp>
      <p:sp>
        <p:nvSpPr>
          <p:cNvPr id="7" name="Rounded Rectangle 6"/>
          <p:cNvSpPr/>
          <p:nvPr/>
        </p:nvSpPr>
        <p:spPr>
          <a:xfrm>
            <a:off x="2286000" y="1645920"/>
            <a:ext cx="1463040" cy="4389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[ONBOARDING]</a:t>
            </a:r>
          </a:p>
          <a:p>
            <a:pPr>
              <a:spcAft>
                <a:spcPts val="400"/>
              </a:spcAft>
              <a:defRPr sz="1150" b="1">
                <a:solidFill>
                  <a:srgbClr val="FFFFFF"/>
                </a:solidFill>
                <a:latin typeface="Trebuchet MS"/>
              </a:defRPr>
            </a:pPr>
            <a:r>
              <a:t>2. Language</a:t>
            </a:r>
          </a:p>
          <a:p>
            <a:pPr>
              <a:spcAft>
                <a:spcPts val="250"/>
              </a:spcAft>
              <a:defRPr sz="880">
                <a:solidFill>
                  <a:srgbClr val="E2E8F0"/>
                </a:solidFill>
                <a:latin typeface="Segoe UI"/>
              </a:defRPr>
            </a:pPr>
            <a:r>
              <a:t>• Action: Choose mother tongue.</a:t>
            </a:r>
          </a:p>
          <a:p>
            <a:pPr>
              <a:spcAft>
                <a:spcPts val="250"/>
              </a:spcAft>
              <a:defRPr sz="880">
                <a:solidFill>
                  <a:srgbClr val="E2E8F0"/>
                </a:solidFill>
                <a:latin typeface="Segoe UI"/>
              </a:defRPr>
            </a:pPr>
            <a:r>
              <a:t>• Touchpoint: 9-language touch grid.</a:t>
            </a:r>
          </a:p>
          <a:p>
            <a:pPr>
              <a:spcAft>
                <a:spcPts val="250"/>
              </a:spcAft>
              <a:defRPr sz="880">
                <a:solidFill>
                  <a:srgbClr val="E2E8F0"/>
                </a:solidFill>
                <a:latin typeface="Segoe UI"/>
              </a:defRPr>
            </a:pPr>
            <a:r>
              <a:t>• Emotion: 🙂 Comfort (familiar script).</a:t>
            </a:r>
          </a:p>
          <a:p>
            <a:pPr>
              <a:spcAft>
                <a:spcPts val="250"/>
              </a:spcAft>
              <a:defRPr sz="880">
                <a:solidFill>
                  <a:srgbClr val="E2E8F0"/>
                </a:solidFill>
                <a:latin typeface="Segoe UI"/>
              </a:defRPr>
            </a:pPr>
            <a:r>
              <a:t>• Pain Point: Literacy barrier.</a:t>
            </a:r>
          </a:p>
          <a:p>
            <a:pPr>
              <a:spcAft>
                <a:spcPts val="250"/>
              </a:spcAft>
              <a:defRPr sz="880">
                <a:solidFill>
                  <a:srgbClr val="E2E8F0"/>
                </a:solidFill>
                <a:latin typeface="Segoe UI"/>
              </a:defRPr>
            </a:pPr>
            <a:r>
              <a:t>• Opportunity: Spoken audio greeting in regional dialect.</a:t>
            </a:r>
          </a:p>
        </p:txBody>
      </p:sp>
      <p:sp>
        <p:nvSpPr>
          <p:cNvPr id="8" name="Rounded Rectangle 7"/>
          <p:cNvSpPr/>
          <p:nvPr/>
        </p:nvSpPr>
        <p:spPr>
          <a:xfrm>
            <a:off x="3840480" y="1645920"/>
            <a:ext cx="146304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[BIOMETRIC]</a:t>
            </a:r>
          </a:p>
          <a:p>
            <a:pPr>
              <a:spcAft>
                <a:spcPts val="400"/>
              </a:spcAft>
              <a:defRPr sz="1150" b="1">
                <a:solidFill>
                  <a:srgbClr val="FFFFFF"/>
                </a:solidFill>
                <a:latin typeface="Trebuchet MS"/>
              </a:defRPr>
            </a:pPr>
            <a:r>
              <a:t>3. Iris Scan</a:t>
            </a:r>
          </a:p>
          <a:p>
            <a:pPr>
              <a:spcAft>
                <a:spcPts val="250"/>
              </a:spcAft>
              <a:defRPr sz="880">
                <a:solidFill>
                  <a:srgbClr val="E2E8F0"/>
                </a:solidFill>
                <a:latin typeface="Segoe UI"/>
              </a:defRPr>
            </a:pPr>
            <a:r>
              <a:t>• Action: Align eyes with reticle.</a:t>
            </a:r>
          </a:p>
          <a:p>
            <a:pPr>
              <a:spcAft>
                <a:spcPts val="250"/>
              </a:spcAft>
              <a:defRPr sz="880">
                <a:solidFill>
                  <a:srgbClr val="E2E8F0"/>
                </a:solidFill>
                <a:latin typeface="Segoe UI"/>
              </a:defRPr>
            </a:pPr>
            <a:r>
              <a:t>• Touchpoint: Concentric HUD camera.</a:t>
            </a:r>
          </a:p>
          <a:p>
            <a:pPr>
              <a:spcAft>
                <a:spcPts val="250"/>
              </a:spcAft>
              <a:defRPr sz="880">
                <a:solidFill>
                  <a:srgbClr val="E2E8F0"/>
                </a:solidFill>
                <a:latin typeface="Segoe UI"/>
              </a:defRPr>
            </a:pPr>
            <a:r>
              <a:t>• Emotion: 😮 Impressed (1.8s scan).</a:t>
            </a:r>
          </a:p>
          <a:p>
            <a:pPr>
              <a:spcAft>
                <a:spcPts val="250"/>
              </a:spcAft>
              <a:defRPr sz="880">
                <a:solidFill>
                  <a:srgbClr val="E2E8F0"/>
                </a:solidFill>
                <a:latin typeface="Segoe UI"/>
              </a:defRPr>
            </a:pPr>
            <a:r>
              <a:t>• Pain Point: Cataract / glasses fear.</a:t>
            </a:r>
          </a:p>
          <a:p>
            <a:pPr>
              <a:spcAft>
                <a:spcPts val="250"/>
              </a:spcAft>
              <a:defRPr sz="880">
                <a:solidFill>
                  <a:srgbClr val="E2E8F0"/>
                </a:solidFill>
                <a:latin typeface="Segoe UI"/>
              </a:defRPr>
            </a:pPr>
            <a:r>
              <a:t>• Opportunity: Near-IR penetrates spectacles 100%.</a:t>
            </a:r>
          </a:p>
        </p:txBody>
      </p:sp>
      <p:sp>
        <p:nvSpPr>
          <p:cNvPr id="9" name="Rounded Rectangle 8"/>
          <p:cNvSpPr/>
          <p:nvPr/>
        </p:nvSpPr>
        <p:spPr>
          <a:xfrm>
            <a:off x="5394960" y="1645920"/>
            <a:ext cx="1463040" cy="4389120"/>
          </a:xfrm>
          <a:prstGeom prst="roundRect">
            <a:avLst/>
          </a:prstGeom>
          <a:solidFill>
            <a:srgbClr val="141D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A855F7"/>
                </a:solidFill>
                <a:latin typeface="Consolas"/>
              </a:defRPr>
            </a:pPr>
            <a:r>
              <a:t>[PRIVACY]</a:t>
            </a:r>
          </a:p>
          <a:p>
            <a:pPr>
              <a:spcAft>
                <a:spcPts val="400"/>
              </a:spcAft>
              <a:defRPr sz="1150" b="1">
                <a:solidFill>
                  <a:srgbClr val="FFFFFF"/>
                </a:solidFill>
                <a:latin typeface="Trebuchet MS"/>
              </a:defRPr>
            </a:pPr>
            <a:r>
              <a:t>4. Verification</a:t>
            </a:r>
          </a:p>
          <a:p>
            <a:pPr>
              <a:spcAft>
                <a:spcPts val="250"/>
              </a:spcAft>
              <a:defRPr sz="880">
                <a:solidFill>
                  <a:srgbClr val="E2E8F0"/>
                </a:solidFill>
                <a:latin typeface="Segoe UI"/>
              </a:defRPr>
            </a:pPr>
            <a:r>
              <a:t>• Action: Verify first name.</a:t>
            </a:r>
          </a:p>
          <a:p>
            <a:pPr>
              <a:spcAft>
                <a:spcPts val="250"/>
              </a:spcAft>
              <a:defRPr sz="880">
                <a:solidFill>
                  <a:srgbClr val="E2E8F0"/>
                </a:solidFill>
                <a:latin typeface="Segoe UI"/>
              </a:defRPr>
            </a:pPr>
            <a:r>
              <a:t>• Touchpoint: Green match badge.</a:t>
            </a:r>
          </a:p>
          <a:p>
            <a:pPr>
              <a:spcAft>
                <a:spcPts val="250"/>
              </a:spcAft>
              <a:defRPr sz="880">
                <a:solidFill>
                  <a:srgbClr val="E2E8F0"/>
                </a:solidFill>
                <a:latin typeface="Segoe UI"/>
              </a:defRPr>
            </a:pPr>
            <a:r>
              <a:t>• Emotion: 😊 Relieved (Identity confirmed).</a:t>
            </a:r>
          </a:p>
          <a:p>
            <a:pPr>
              <a:spcAft>
                <a:spcPts val="250"/>
              </a:spcAft>
              <a:defRPr sz="880">
                <a:solidFill>
                  <a:srgbClr val="E2E8F0"/>
                </a:solidFill>
                <a:latin typeface="Segoe UI"/>
              </a:defRPr>
            </a:pPr>
            <a:r>
              <a:t>• Pain Point: Privacy leak anxiety.</a:t>
            </a:r>
          </a:p>
          <a:p>
            <a:pPr>
              <a:spcAft>
                <a:spcPts val="250"/>
              </a:spcAft>
              <a:defRPr sz="880">
                <a:solidFill>
                  <a:srgbClr val="E2E8F0"/>
                </a:solidFill>
                <a:latin typeface="Segoe UI"/>
              </a:defRPr>
            </a:pPr>
            <a:r>
              <a:t>• Opportunity: Ephemeral token issued; biometrics wiped.</a:t>
            </a:r>
          </a:p>
        </p:txBody>
      </p:sp>
      <p:sp>
        <p:nvSpPr>
          <p:cNvPr id="10" name="Rounded Rectangle 9"/>
          <p:cNvSpPr/>
          <p:nvPr/>
        </p:nvSpPr>
        <p:spPr>
          <a:xfrm>
            <a:off x="6949440" y="1645920"/>
            <a:ext cx="1463040" cy="4389120"/>
          </a:xfrm>
          <a:prstGeom prst="roundRect">
            <a:avLst/>
          </a:prstGeom>
          <a:solidFill>
            <a:srgbClr val="141D2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38BDF8"/>
                </a:solidFill>
                <a:latin typeface="Consolas"/>
              </a:defRPr>
            </a:pPr>
            <a:r>
              <a:t>[MULTIMODAL]</a:t>
            </a:r>
          </a:p>
          <a:p>
            <a:pPr>
              <a:spcAft>
                <a:spcPts val="400"/>
              </a:spcAft>
              <a:defRPr sz="1150" b="1">
                <a:solidFill>
                  <a:srgbClr val="FFFFFF"/>
                </a:solidFill>
                <a:latin typeface="Trebuchet MS"/>
              </a:defRPr>
            </a:pPr>
            <a:r>
              <a:t>5. Mode Choice</a:t>
            </a:r>
          </a:p>
          <a:p>
            <a:pPr>
              <a:spcAft>
                <a:spcPts val="250"/>
              </a:spcAft>
              <a:defRPr sz="880">
                <a:solidFill>
                  <a:srgbClr val="E2E8F0"/>
                </a:solidFill>
                <a:latin typeface="Segoe UI"/>
              </a:defRPr>
            </a:pPr>
            <a:r>
              <a:t>• Action: Choose Touch or Voice.</a:t>
            </a:r>
          </a:p>
          <a:p>
            <a:pPr>
              <a:spcAft>
                <a:spcPts val="250"/>
              </a:spcAft>
              <a:defRPr sz="880">
                <a:solidFill>
                  <a:srgbClr val="E2E8F0"/>
                </a:solidFill>
                <a:latin typeface="Segoe UI"/>
              </a:defRPr>
            </a:pPr>
            <a:r>
              <a:t>• Touchpoint: 50/50 split screen.</a:t>
            </a:r>
          </a:p>
          <a:p>
            <a:pPr>
              <a:spcAft>
                <a:spcPts val="250"/>
              </a:spcAft>
              <a:defRPr sz="880">
                <a:solidFill>
                  <a:srgbClr val="E2E8F0"/>
                </a:solidFill>
                <a:latin typeface="Segoe UI"/>
              </a:defRPr>
            </a:pPr>
            <a:r>
              <a:t>• Emotion: 😃 Empowered (Dignified choice).</a:t>
            </a:r>
          </a:p>
          <a:p>
            <a:pPr>
              <a:spcAft>
                <a:spcPts val="250"/>
              </a:spcAft>
              <a:defRPr sz="880">
                <a:solidFill>
                  <a:srgbClr val="E2E8F0"/>
                </a:solidFill>
                <a:latin typeface="Segoe UI"/>
              </a:defRPr>
            </a:pPr>
            <a:r>
              <a:t>• Pain Point: Motor / visual limits.</a:t>
            </a:r>
          </a:p>
          <a:p>
            <a:pPr>
              <a:spcAft>
                <a:spcPts val="250"/>
              </a:spcAft>
              <a:defRPr sz="880">
                <a:solidFill>
                  <a:srgbClr val="E2E8F0"/>
                </a:solidFill>
                <a:latin typeface="Segoe UI"/>
              </a:defRPr>
            </a:pPr>
            <a:r>
              <a:t>• Opportunity: Voice command enables hands-free voting.</a:t>
            </a:r>
          </a:p>
        </p:txBody>
      </p:sp>
      <p:sp>
        <p:nvSpPr>
          <p:cNvPr id="11" name="Rounded Rectangle 10"/>
          <p:cNvSpPr/>
          <p:nvPr/>
        </p:nvSpPr>
        <p:spPr>
          <a:xfrm>
            <a:off x="8503920" y="1645920"/>
            <a:ext cx="1463040" cy="4389120"/>
          </a:xfrm>
          <a:prstGeom prst="roundRect">
            <a:avLst/>
          </a:prstGeom>
          <a:solidFill>
            <a:srgbClr val="141D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F59E0B"/>
                </a:solidFill>
                <a:latin typeface="Consolas"/>
              </a:defRPr>
            </a:pPr>
            <a:r>
              <a:t>[VOTE CAST]</a:t>
            </a:r>
          </a:p>
          <a:p>
            <a:pPr>
              <a:spcAft>
                <a:spcPts val="400"/>
              </a:spcAft>
              <a:defRPr sz="1150" b="1">
                <a:solidFill>
                  <a:srgbClr val="FFFFFF"/>
                </a:solidFill>
                <a:latin typeface="Trebuchet MS"/>
              </a:defRPr>
            </a:pPr>
            <a:r>
              <a:t>6. Ballot Cast</a:t>
            </a:r>
          </a:p>
          <a:p>
            <a:pPr>
              <a:spcAft>
                <a:spcPts val="250"/>
              </a:spcAft>
              <a:defRPr sz="880">
                <a:solidFill>
                  <a:srgbClr val="E2E8F0"/>
                </a:solidFill>
                <a:latin typeface="Segoe UI"/>
              </a:defRPr>
            </a:pPr>
            <a:r>
              <a:t>• Action: Tap or speak candidate.</a:t>
            </a:r>
          </a:p>
          <a:p>
            <a:pPr>
              <a:spcAft>
                <a:spcPts val="250"/>
              </a:spcAft>
              <a:defRPr sz="880">
                <a:solidFill>
                  <a:srgbClr val="E2E8F0"/>
                </a:solidFill>
                <a:latin typeface="Segoe UI"/>
              </a:defRPr>
            </a:pPr>
            <a:r>
              <a:t>• Touchpoint: Candidate tiles + modal.</a:t>
            </a:r>
          </a:p>
          <a:p>
            <a:pPr>
              <a:spcAft>
                <a:spcPts val="250"/>
              </a:spcAft>
              <a:defRPr sz="880">
                <a:solidFill>
                  <a:srgbClr val="E2E8F0"/>
                </a:solidFill>
                <a:latin typeface="Segoe UI"/>
              </a:defRPr>
            </a:pPr>
            <a:r>
              <a:t>• Emotion: 🧐 Focused (Confirming choice).</a:t>
            </a:r>
          </a:p>
          <a:p>
            <a:pPr>
              <a:spcAft>
                <a:spcPts val="250"/>
              </a:spcAft>
              <a:defRPr sz="880">
                <a:solidFill>
                  <a:srgbClr val="E2E8F0"/>
                </a:solidFill>
                <a:latin typeface="Segoe UI"/>
              </a:defRPr>
            </a:pPr>
            <a:r>
              <a:t>• Pain Point: Accidental mis-tap.</a:t>
            </a:r>
          </a:p>
          <a:p>
            <a:pPr>
              <a:spcAft>
                <a:spcPts val="250"/>
              </a:spcAft>
              <a:defRPr sz="880">
                <a:solidFill>
                  <a:srgbClr val="E2E8F0"/>
                </a:solidFill>
                <a:latin typeface="Segoe UI"/>
              </a:defRPr>
            </a:pPr>
            <a:r>
              <a:t>• Opportunity: 2-tier modal speaks name aloud.</a:t>
            </a:r>
          </a:p>
        </p:txBody>
      </p:sp>
      <p:sp>
        <p:nvSpPr>
          <p:cNvPr id="12" name="Rounded Rectangle 11"/>
          <p:cNvSpPr/>
          <p:nvPr/>
        </p:nvSpPr>
        <p:spPr>
          <a:xfrm>
            <a:off x="10058400" y="1645920"/>
            <a:ext cx="137160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[CLOSURE]</a:t>
            </a:r>
          </a:p>
          <a:p>
            <a:pPr>
              <a:spcAft>
                <a:spcPts val="400"/>
              </a:spcAft>
              <a:defRPr sz="1150" b="1">
                <a:solidFill>
                  <a:srgbClr val="FFFFFF"/>
                </a:solidFill>
                <a:latin typeface="Trebuchet MS"/>
              </a:defRPr>
            </a:pPr>
            <a:r>
              <a:t>7. VVPAT Exit</a:t>
            </a:r>
          </a:p>
          <a:p>
            <a:pPr>
              <a:spcAft>
                <a:spcPts val="250"/>
              </a:spcAft>
              <a:defRPr sz="880">
                <a:solidFill>
                  <a:srgbClr val="E2E8F0"/>
                </a:solidFill>
                <a:latin typeface="Segoe UI"/>
              </a:defRPr>
            </a:pPr>
            <a:r>
              <a:t>• Action: See paper receipt drop.</a:t>
            </a:r>
          </a:p>
          <a:p>
            <a:pPr>
              <a:spcAft>
                <a:spcPts val="250"/>
              </a:spcAft>
              <a:defRPr sz="880">
                <a:solidFill>
                  <a:srgbClr val="E2E8F0"/>
                </a:solidFill>
                <a:latin typeface="Segoe UI"/>
              </a:defRPr>
            </a:pPr>
            <a:r>
              <a:t>• Touchpoint: Thermal viewing glass.</a:t>
            </a:r>
          </a:p>
          <a:p>
            <a:pPr>
              <a:spcAft>
                <a:spcPts val="250"/>
              </a:spcAft>
              <a:defRPr sz="880">
                <a:solidFill>
                  <a:srgbClr val="E2E8F0"/>
                </a:solidFill>
                <a:latin typeface="Segoe UI"/>
              </a:defRPr>
            </a:pPr>
            <a:r>
              <a:t>• Emotion: 🥳 Pride (Vote secured).</a:t>
            </a:r>
          </a:p>
          <a:p>
            <a:pPr>
              <a:spcAft>
                <a:spcPts val="250"/>
              </a:spcAft>
              <a:defRPr sz="880">
                <a:solidFill>
                  <a:srgbClr val="E2E8F0"/>
                </a:solidFill>
                <a:latin typeface="Segoe UI"/>
              </a:defRPr>
            </a:pPr>
            <a:r>
              <a:t>• Pain Point: Machine tamper doubt.</a:t>
            </a:r>
          </a:p>
          <a:p>
            <a:pPr>
              <a:spcAft>
                <a:spcPts val="250"/>
              </a:spcAft>
              <a:defRPr sz="880">
                <a:solidFill>
                  <a:srgbClr val="E2E8F0"/>
                </a:solidFill>
                <a:latin typeface="Segoe UI"/>
              </a:defRPr>
            </a:pPr>
            <a:r>
              <a:t>• Opportunity: 7s glass view builds absolute trust.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DESIGN SYNTHESIS</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Synthesis &amp; Insights: 4 Guiding Civic Design Principles</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Translating field research into an ethical, trust-first architectural foundation.</a:t>
            </a:r>
          </a:p>
        </p:txBody>
      </p:sp>
      <p:sp>
        <p:nvSpPr>
          <p:cNvPr id="6" name="Rounded Rectangle 5"/>
          <p:cNvSpPr/>
          <p:nvPr/>
        </p:nvSpPr>
        <p:spPr>
          <a:xfrm>
            <a:off x="731520" y="1645920"/>
            <a:ext cx="5212080" cy="2103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[ZERO-KNOWLEDGE]</a:t>
            </a:r>
          </a:p>
          <a:p>
            <a:pPr>
              <a:spcAft>
                <a:spcPts val="400"/>
              </a:spcAft>
              <a:defRPr sz="1150" b="1">
                <a:solidFill>
                  <a:srgbClr val="FFFFFF"/>
                </a:solidFill>
                <a:latin typeface="Trebuchet MS"/>
              </a:defRPr>
            </a:pPr>
            <a:r>
              <a:t>Insight 1: Decouple Identity from Vote</a:t>
            </a:r>
          </a:p>
          <a:p>
            <a:pPr>
              <a:spcAft>
                <a:spcPts val="250"/>
              </a:spcAft>
              <a:defRPr sz="880">
                <a:solidFill>
                  <a:srgbClr val="E2E8F0"/>
                </a:solidFill>
                <a:latin typeface="Segoe UI"/>
              </a:defRPr>
            </a:pPr>
            <a:r>
              <a:t>• Field Discovery: 74% of citizens worry the government will link their vote to their biometrics.</a:t>
            </a:r>
          </a:p>
          <a:p>
            <a:pPr>
              <a:spcAft>
                <a:spcPts val="250"/>
              </a:spcAft>
              <a:defRPr sz="880">
                <a:solidFill>
                  <a:srgbClr val="E2E8F0"/>
                </a:solidFill>
                <a:latin typeface="Segoe UI"/>
              </a:defRPr>
            </a:pPr>
            <a:r>
              <a:t>• Architectural Rule: The iris scan only verifies eligibility and generates an anonymous session hash.</a:t>
            </a:r>
          </a:p>
          <a:p>
            <a:pPr>
              <a:spcAft>
                <a:spcPts val="250"/>
              </a:spcAft>
              <a:defRPr sz="880">
                <a:solidFill>
                  <a:srgbClr val="E2E8F0"/>
                </a:solidFill>
                <a:latin typeface="Segoe UI"/>
              </a:defRPr>
            </a:pPr>
            <a:r>
              <a:t>• Biometrics are purged from RAM immediately before the ballot screen renders.</a:t>
            </a:r>
          </a:p>
        </p:txBody>
      </p:sp>
      <p:sp>
        <p:nvSpPr>
          <p:cNvPr id="7" name="Rounded Rectangle 6"/>
          <p:cNvSpPr/>
          <p:nvPr/>
        </p:nvSpPr>
        <p:spPr>
          <a:xfrm>
            <a:off x="6217920" y="1645920"/>
            <a:ext cx="5212080" cy="2103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[INCLUSION]</a:t>
            </a:r>
          </a:p>
          <a:p>
            <a:pPr>
              <a:spcAft>
                <a:spcPts val="400"/>
              </a:spcAft>
              <a:defRPr sz="1150" b="1">
                <a:solidFill>
                  <a:srgbClr val="FFFFFF"/>
                </a:solidFill>
                <a:latin typeface="Trebuchet MS"/>
              </a:defRPr>
            </a:pPr>
            <a:r>
              <a:t>Insight 2: Multimodal Voice &amp; Touch Duality</a:t>
            </a:r>
          </a:p>
          <a:p>
            <a:pPr>
              <a:spcAft>
                <a:spcPts val="250"/>
              </a:spcAft>
              <a:defRPr sz="880">
                <a:solidFill>
                  <a:srgbClr val="E2E8F0"/>
                </a:solidFill>
                <a:latin typeface="Segoe UI"/>
              </a:defRPr>
            </a:pPr>
            <a:r>
              <a:t>• Field Discovery: Touchscreens alone exclude blind citizens; voice alone slows down fast tech users.</a:t>
            </a:r>
          </a:p>
          <a:p>
            <a:pPr>
              <a:spcAft>
                <a:spcPts val="250"/>
              </a:spcAft>
              <a:defRPr sz="880">
                <a:solidFill>
                  <a:srgbClr val="E2E8F0"/>
                </a:solidFill>
                <a:latin typeface="Segoe UI"/>
              </a:defRPr>
            </a:pPr>
            <a:r>
              <a:t>• Architectural Rule: Voice commands and touchscreen taps share identical democratic authority.</a:t>
            </a:r>
          </a:p>
          <a:p>
            <a:pPr>
              <a:spcAft>
                <a:spcPts val="250"/>
              </a:spcAft>
              <a:defRPr sz="880">
                <a:solidFill>
                  <a:srgbClr val="E2E8F0"/>
                </a:solidFill>
                <a:latin typeface="Segoe UI"/>
              </a:defRPr>
            </a:pPr>
            <a:r>
              <a:t>• Equips every booth with directional acoustics and high-contrast WCAG 2.1 AAA modes.</a:t>
            </a:r>
          </a:p>
        </p:txBody>
      </p:sp>
      <p:sp>
        <p:nvSpPr>
          <p:cNvPr id="8" name="Rounded Rectangle 7"/>
          <p:cNvSpPr/>
          <p:nvPr/>
        </p:nvSpPr>
        <p:spPr>
          <a:xfrm>
            <a:off x="731520" y="3931920"/>
            <a:ext cx="5212080" cy="2103120"/>
          </a:xfrm>
          <a:prstGeom prst="roundRect">
            <a:avLst/>
          </a:prstGeom>
          <a:solidFill>
            <a:srgbClr val="141D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F59E0B"/>
                </a:solidFill>
                <a:latin typeface="Consolas"/>
              </a:defRPr>
            </a:pPr>
            <a:r>
              <a:t>[TRUST]</a:t>
            </a:r>
          </a:p>
          <a:p>
            <a:pPr>
              <a:spcAft>
                <a:spcPts val="400"/>
              </a:spcAft>
              <a:defRPr sz="1150" b="1">
                <a:solidFill>
                  <a:srgbClr val="FFFFFF"/>
                </a:solidFill>
                <a:latin typeface="Trebuchet MS"/>
              </a:defRPr>
            </a:pPr>
            <a:r>
              <a:t>Insight 3: Psychological Need for Physical Proof</a:t>
            </a:r>
          </a:p>
          <a:p>
            <a:pPr>
              <a:spcAft>
                <a:spcPts val="250"/>
              </a:spcAft>
              <a:defRPr sz="880">
                <a:solidFill>
                  <a:srgbClr val="E2E8F0"/>
                </a:solidFill>
                <a:latin typeface="Segoe UI"/>
              </a:defRPr>
            </a:pPr>
            <a:r>
              <a:t>• Field Discovery: Citizens distrust purely digital tally counters without tangible evidence.</a:t>
            </a:r>
          </a:p>
          <a:p>
            <a:pPr>
              <a:spcAft>
                <a:spcPts val="250"/>
              </a:spcAft>
              <a:defRPr sz="880">
                <a:solidFill>
                  <a:srgbClr val="E2E8F0"/>
                </a:solidFill>
                <a:latin typeface="Segoe UI"/>
              </a:defRPr>
            </a:pPr>
            <a:r>
              <a:t>• Architectural Rule: A physical thermal VVPAT 2.0 slip must print and remain visible behind glass.</a:t>
            </a:r>
          </a:p>
          <a:p>
            <a:pPr>
              <a:spcAft>
                <a:spcPts val="250"/>
              </a:spcAft>
              <a:defRPr sz="880">
                <a:solidFill>
                  <a:srgbClr val="E2E8F0"/>
                </a:solidFill>
                <a:latin typeface="Segoe UI"/>
              </a:defRPr>
            </a:pPr>
            <a:r>
              <a:t>• Combines digital speed with indisputable physical paper auditability.</a:t>
            </a:r>
          </a:p>
        </p:txBody>
      </p:sp>
      <p:sp>
        <p:nvSpPr>
          <p:cNvPr id="9" name="Rounded Rectangle 8"/>
          <p:cNvSpPr/>
          <p:nvPr/>
        </p:nvSpPr>
        <p:spPr>
          <a:xfrm>
            <a:off x="6217920" y="3931920"/>
            <a:ext cx="5212080" cy="2103120"/>
          </a:xfrm>
          <a:prstGeom prst="roundRect">
            <a:avLst/>
          </a:prstGeom>
          <a:solidFill>
            <a:srgbClr val="141D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A855F7"/>
                </a:solidFill>
                <a:latin typeface="Consolas"/>
              </a:defRPr>
            </a:pPr>
            <a:r>
              <a:t>[DIGNITY]</a:t>
            </a:r>
          </a:p>
          <a:p>
            <a:pPr>
              <a:spcAft>
                <a:spcPts val="400"/>
              </a:spcAft>
              <a:defRPr sz="1150" b="1">
                <a:solidFill>
                  <a:srgbClr val="FFFFFF"/>
                </a:solidFill>
                <a:latin typeface="Trebuchet MS"/>
              </a:defRPr>
            </a:pPr>
            <a:r>
              <a:t>Insight 4: Compassionate Error Recovery</a:t>
            </a:r>
          </a:p>
          <a:p>
            <a:pPr>
              <a:spcAft>
                <a:spcPts val="250"/>
              </a:spcAft>
              <a:defRPr sz="880">
                <a:solidFill>
                  <a:srgbClr val="E2E8F0"/>
                </a:solidFill>
                <a:latin typeface="Segoe UI"/>
              </a:defRPr>
            </a:pPr>
            <a:r>
              <a:t>• Field Discovery: Scanner failure alarms humiliate voters and spark booth tension.</a:t>
            </a:r>
          </a:p>
          <a:p>
            <a:pPr>
              <a:spcAft>
                <a:spcPts val="250"/>
              </a:spcAft>
              <a:defRPr sz="880">
                <a:solidFill>
                  <a:srgbClr val="E2E8F0"/>
                </a:solidFill>
                <a:latin typeface="Segoe UI"/>
              </a:defRPr>
            </a:pPr>
            <a:r>
              <a:t>• Architectural Rule: Kiosk allows 3 soft visual retries with spoken alignment prompts.</a:t>
            </a:r>
          </a:p>
          <a:p>
            <a:pPr>
              <a:spcAft>
                <a:spcPts val="250"/>
              </a:spcAft>
              <a:defRPr sz="880">
                <a:solidFill>
                  <a:srgbClr val="E2E8F0"/>
                </a:solidFill>
                <a:latin typeface="Segoe UI"/>
              </a:defRPr>
            </a:pPr>
            <a:r>
              <a:t>• If unsuccessful, it calmly prints a discreet referral ticket for the presiding officer desk.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VALUE EXCHANGE</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Detailed Value Exchange Analysis: Who Gets Value?</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Mapping value recipients, direct benefits received, and value returned to the democratic system.</a:t>
            </a:r>
          </a:p>
        </p:txBody>
      </p:sp>
      <p:sp>
        <p:nvSpPr>
          <p:cNvPr id="6" name="Rounded Rectangle 5"/>
          <p:cNvSpPr/>
          <p:nvPr/>
        </p:nvSpPr>
        <p:spPr>
          <a:xfrm>
            <a:off x="731520" y="1645920"/>
            <a:ext cx="2103120" cy="4389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[968M CITIZENS]</a:t>
            </a:r>
          </a:p>
          <a:p>
            <a:pPr>
              <a:spcAft>
                <a:spcPts val="400"/>
              </a:spcAft>
              <a:defRPr sz="1150" b="1">
                <a:solidFill>
                  <a:srgbClr val="FFFFFF"/>
                </a:solidFill>
                <a:latin typeface="Trebuchet MS"/>
              </a:defRPr>
            </a:pPr>
            <a:r>
              <a:t>1. Citizens &amp; Voters</a:t>
            </a:r>
          </a:p>
          <a:p>
            <a:pPr>
              <a:spcAft>
                <a:spcPts val="250"/>
              </a:spcAft>
              <a:defRPr sz="880">
                <a:solidFill>
                  <a:srgbClr val="E2E8F0"/>
                </a:solidFill>
                <a:latin typeface="Segoe UI"/>
              </a:defRPr>
            </a:pPr>
            <a:r>
              <a:t>• WHO GETS VALUE: 968M voters.</a:t>
            </a:r>
          </a:p>
          <a:p>
            <a:pPr>
              <a:spcAft>
                <a:spcPts val="250"/>
              </a:spcAft>
              <a:defRPr sz="880">
                <a:solidFill>
                  <a:srgbClr val="E2E8F0"/>
                </a:solidFill>
                <a:latin typeface="Segoe UI"/>
              </a:defRPr>
            </a:pPr>
            <a:r>
              <a:t>• VALUE RECEIVED:</a:t>
            </a:r>
          </a:p>
          <a:p>
            <a:pPr>
              <a:spcAft>
                <a:spcPts val="250"/>
              </a:spcAft>
              <a:defRPr sz="880">
                <a:solidFill>
                  <a:srgbClr val="E2E8F0"/>
                </a:solidFill>
                <a:latin typeface="Segoe UI"/>
              </a:defRPr>
            </a:pPr>
            <a:r>
              <a:t>• • Vote in under 48 seconds.</a:t>
            </a:r>
          </a:p>
          <a:p>
            <a:pPr>
              <a:spcAft>
                <a:spcPts val="250"/>
              </a:spcAft>
              <a:defRPr sz="880">
                <a:solidFill>
                  <a:srgbClr val="E2E8F0"/>
                </a:solidFill>
                <a:latin typeface="Segoe UI"/>
              </a:defRPr>
            </a:pPr>
            <a:r>
              <a:t>• • Zero lost voter card anxiety.</a:t>
            </a:r>
          </a:p>
          <a:p>
            <a:pPr>
              <a:spcAft>
                <a:spcPts val="250"/>
              </a:spcAft>
              <a:defRPr sz="880">
                <a:solidFill>
                  <a:srgbClr val="E2E8F0"/>
                </a:solidFill>
                <a:latin typeface="Segoe UI"/>
              </a:defRPr>
            </a:pPr>
            <a:r>
              <a:t>• • Mother tongue audio guidance.</a:t>
            </a:r>
          </a:p>
          <a:p>
            <a:pPr>
              <a:spcAft>
                <a:spcPts val="250"/>
              </a:spcAft>
              <a:defRPr sz="880">
                <a:solidFill>
                  <a:srgbClr val="E2E8F0"/>
                </a:solidFill>
                <a:latin typeface="Segoe UI"/>
              </a:defRPr>
            </a:pPr>
            <a:r>
              <a:t>• • 100% secret-ballot privacy.</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VALUE RETURNED:</a:t>
            </a:r>
          </a:p>
          <a:p>
            <a:pPr>
              <a:spcAft>
                <a:spcPts val="250"/>
              </a:spcAft>
              <a:defRPr sz="880">
                <a:solidFill>
                  <a:srgbClr val="E2E8F0"/>
                </a:solidFill>
                <a:latin typeface="Segoe UI"/>
              </a:defRPr>
            </a:pPr>
            <a:r>
              <a:t>• • Higher voter turnout rates.</a:t>
            </a:r>
          </a:p>
          <a:p>
            <a:pPr>
              <a:spcAft>
                <a:spcPts val="250"/>
              </a:spcAft>
              <a:defRPr sz="880">
                <a:solidFill>
                  <a:srgbClr val="E2E8F0"/>
                </a:solidFill>
                <a:latin typeface="Segoe UI"/>
              </a:defRPr>
            </a:pPr>
            <a:r>
              <a:t>• • Renewed trust in democracy.</a:t>
            </a:r>
          </a:p>
        </p:txBody>
      </p:sp>
      <p:sp>
        <p:nvSpPr>
          <p:cNvPr id="7" name="Rounded Rectangle 6"/>
          <p:cNvSpPr/>
          <p:nvPr/>
        </p:nvSpPr>
        <p:spPr>
          <a:xfrm>
            <a:off x="2926080" y="1645920"/>
            <a:ext cx="210312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[ECI OFFICIALS]</a:t>
            </a:r>
          </a:p>
          <a:p>
            <a:pPr>
              <a:spcAft>
                <a:spcPts val="400"/>
              </a:spcAft>
              <a:defRPr sz="1150" b="1">
                <a:solidFill>
                  <a:srgbClr val="FFFFFF"/>
                </a:solidFill>
                <a:latin typeface="Trebuchet MS"/>
              </a:defRPr>
            </a:pPr>
            <a:r>
              <a:t>2. Election Commission</a:t>
            </a:r>
          </a:p>
          <a:p>
            <a:pPr>
              <a:spcAft>
                <a:spcPts val="250"/>
              </a:spcAft>
              <a:defRPr sz="880">
                <a:solidFill>
                  <a:srgbClr val="E2E8F0"/>
                </a:solidFill>
                <a:latin typeface="Segoe UI"/>
              </a:defRPr>
            </a:pPr>
            <a:r>
              <a:t>• WHO GETS VALUE: ECI staff.</a:t>
            </a:r>
          </a:p>
          <a:p>
            <a:pPr>
              <a:spcAft>
                <a:spcPts val="250"/>
              </a:spcAft>
              <a:defRPr sz="880">
                <a:solidFill>
                  <a:srgbClr val="E2E8F0"/>
                </a:solidFill>
                <a:latin typeface="Segoe UI"/>
              </a:defRPr>
            </a:pPr>
            <a:r>
              <a:t>• VALUE RECEIVED:</a:t>
            </a:r>
          </a:p>
          <a:p>
            <a:pPr>
              <a:spcAft>
                <a:spcPts val="250"/>
              </a:spcAft>
              <a:defRPr sz="880">
                <a:solidFill>
                  <a:srgbClr val="E2E8F0"/>
                </a:solidFill>
                <a:latin typeface="Segoe UI"/>
              </a:defRPr>
            </a:pPr>
            <a:r>
              <a:t>• • 95% fraud reduction.</a:t>
            </a:r>
          </a:p>
          <a:p>
            <a:pPr>
              <a:spcAft>
                <a:spcPts val="250"/>
              </a:spcAft>
              <a:defRPr sz="880">
                <a:solidFill>
                  <a:srgbClr val="E2E8F0"/>
                </a:solidFill>
                <a:latin typeface="Segoe UI"/>
              </a:defRPr>
            </a:pPr>
            <a:r>
              <a:t>• • Automated crowd pacing.</a:t>
            </a:r>
          </a:p>
          <a:p>
            <a:pPr>
              <a:spcAft>
                <a:spcPts val="250"/>
              </a:spcAft>
              <a:defRPr sz="880">
                <a:solidFill>
                  <a:srgbClr val="E2E8F0"/>
                </a:solidFill>
                <a:latin typeface="Segoe UI"/>
              </a:defRPr>
            </a:pPr>
            <a:r>
              <a:t>• • No manual roll search.</a:t>
            </a:r>
          </a:p>
          <a:p>
            <a:pPr>
              <a:spcAft>
                <a:spcPts val="250"/>
              </a:spcAft>
              <a:defRPr sz="880">
                <a:solidFill>
                  <a:srgbClr val="E2E8F0"/>
                </a:solidFill>
                <a:latin typeface="Segoe UI"/>
              </a:defRPr>
            </a:pPr>
            <a:r>
              <a:t>• • Instant digital tallying.</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VALUE RETURNED:</a:t>
            </a:r>
          </a:p>
          <a:p>
            <a:pPr>
              <a:spcAft>
                <a:spcPts val="250"/>
              </a:spcAft>
              <a:defRPr sz="880">
                <a:solidFill>
                  <a:srgbClr val="E2E8F0"/>
                </a:solidFill>
                <a:latin typeface="Segoe UI"/>
              </a:defRPr>
            </a:pPr>
            <a:r>
              <a:t>• • Transparent, dispute-free polls.</a:t>
            </a:r>
          </a:p>
          <a:p>
            <a:pPr>
              <a:spcAft>
                <a:spcPts val="250"/>
              </a:spcAft>
              <a:defRPr sz="880">
                <a:solidFill>
                  <a:srgbClr val="E2E8F0"/>
                </a:solidFill>
                <a:latin typeface="Segoe UI"/>
              </a:defRPr>
            </a:pPr>
            <a:r>
              <a:t>• • Global democratic leadership.</a:t>
            </a:r>
          </a:p>
        </p:txBody>
      </p:sp>
      <p:sp>
        <p:nvSpPr>
          <p:cNvPr id="8" name="Rounded Rectangle 7"/>
          <p:cNvSpPr/>
          <p:nvPr/>
        </p:nvSpPr>
        <p:spPr>
          <a:xfrm>
            <a:off x="5120640" y="1645920"/>
            <a:ext cx="2103120" cy="4389120"/>
          </a:xfrm>
          <a:prstGeom prst="roundRect">
            <a:avLst/>
          </a:prstGeom>
          <a:solidFill>
            <a:srgbClr val="141D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F59E0B"/>
                </a:solidFill>
                <a:latin typeface="Consolas"/>
              </a:defRPr>
            </a:pPr>
            <a:r>
              <a:t>[TAXPAYERS]</a:t>
            </a:r>
          </a:p>
          <a:p>
            <a:pPr>
              <a:spcAft>
                <a:spcPts val="400"/>
              </a:spcAft>
              <a:defRPr sz="1150" b="1">
                <a:solidFill>
                  <a:srgbClr val="FFFFFF"/>
                </a:solidFill>
                <a:latin typeface="Trebuchet MS"/>
              </a:defRPr>
            </a:pPr>
            <a:r>
              <a:t>3. Public Exchequer</a:t>
            </a:r>
          </a:p>
          <a:p>
            <a:pPr>
              <a:spcAft>
                <a:spcPts val="250"/>
              </a:spcAft>
              <a:defRPr sz="880">
                <a:solidFill>
                  <a:srgbClr val="E2E8F0"/>
                </a:solidFill>
                <a:latin typeface="Segoe UI"/>
              </a:defRPr>
            </a:pPr>
            <a:r>
              <a:t>• WHO GETS VALUE: Taxpayers.</a:t>
            </a:r>
          </a:p>
          <a:p>
            <a:pPr>
              <a:spcAft>
                <a:spcPts val="250"/>
              </a:spcAft>
              <a:defRPr sz="880">
                <a:solidFill>
                  <a:srgbClr val="E2E8F0"/>
                </a:solidFill>
                <a:latin typeface="Segoe UI"/>
              </a:defRPr>
            </a:pPr>
            <a:r>
              <a:t>• VALUE RECEIVED:</a:t>
            </a:r>
          </a:p>
          <a:p>
            <a:pPr>
              <a:spcAft>
                <a:spcPts val="250"/>
              </a:spcAft>
              <a:defRPr sz="880">
                <a:solidFill>
                  <a:srgbClr val="E2E8F0"/>
                </a:solidFill>
                <a:latin typeface="Segoe UI"/>
              </a:defRPr>
            </a:pPr>
            <a:r>
              <a:t>• • 80% paper savings.</a:t>
            </a:r>
          </a:p>
          <a:p>
            <a:pPr>
              <a:spcAft>
                <a:spcPts val="250"/>
              </a:spcAft>
              <a:defRPr sz="880">
                <a:solidFill>
                  <a:srgbClr val="E2E8F0"/>
                </a:solidFill>
                <a:latin typeface="Segoe UI"/>
              </a:defRPr>
            </a:pPr>
            <a:r>
              <a:t>• • Reusable 15-year kiosks.</a:t>
            </a:r>
          </a:p>
          <a:p>
            <a:pPr>
              <a:spcAft>
                <a:spcPts val="250"/>
              </a:spcAft>
              <a:defRPr sz="880">
                <a:solidFill>
                  <a:srgbClr val="E2E8F0"/>
                </a:solidFill>
                <a:latin typeface="Segoe UI"/>
              </a:defRPr>
            </a:pPr>
            <a:r>
              <a:t>• • Lower security deployment costs.</a:t>
            </a:r>
          </a:p>
          <a:p>
            <a:pPr>
              <a:spcAft>
                <a:spcPts val="250"/>
              </a:spcAft>
              <a:defRPr sz="880">
                <a:solidFill>
                  <a:srgbClr val="E2E8F0"/>
                </a:solidFill>
                <a:latin typeface="Segoe UI"/>
              </a:defRPr>
            </a:pPr>
            <a:r>
              <a:t>• • Millions of work hours saved.</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VALUE RETURNED:</a:t>
            </a:r>
          </a:p>
          <a:p>
            <a:pPr>
              <a:spcAft>
                <a:spcPts val="250"/>
              </a:spcAft>
              <a:defRPr sz="880">
                <a:solidFill>
                  <a:srgbClr val="E2E8F0"/>
                </a:solidFill>
                <a:latin typeface="Segoe UI"/>
              </a:defRPr>
            </a:pPr>
            <a:r>
              <a:t>• • Fiscal sustainability.</a:t>
            </a:r>
          </a:p>
          <a:p>
            <a:pPr>
              <a:spcAft>
                <a:spcPts val="250"/>
              </a:spcAft>
              <a:defRPr sz="880">
                <a:solidFill>
                  <a:srgbClr val="E2E8F0"/>
                </a:solidFill>
                <a:latin typeface="Segoe UI"/>
              </a:defRPr>
            </a:pPr>
            <a:r>
              <a:t>• • Digital governance asset.</a:t>
            </a:r>
          </a:p>
        </p:txBody>
      </p:sp>
      <p:sp>
        <p:nvSpPr>
          <p:cNvPr id="9" name="Rounded Rectangle 8"/>
          <p:cNvSpPr/>
          <p:nvPr/>
        </p:nvSpPr>
        <p:spPr>
          <a:xfrm>
            <a:off x="7315200" y="1645920"/>
            <a:ext cx="2103120" cy="4389120"/>
          </a:xfrm>
          <a:prstGeom prst="roundRect">
            <a:avLst/>
          </a:prstGeom>
          <a:solidFill>
            <a:srgbClr val="141D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A855F7"/>
                </a:solidFill>
                <a:latin typeface="Consolas"/>
              </a:defRPr>
            </a:pPr>
            <a:r>
              <a:t>[ACCESSIBILITY]</a:t>
            </a:r>
          </a:p>
          <a:p>
            <a:pPr>
              <a:spcAft>
                <a:spcPts val="400"/>
              </a:spcAft>
              <a:defRPr sz="1150" b="1">
                <a:solidFill>
                  <a:srgbClr val="FFFFFF"/>
                </a:solidFill>
                <a:latin typeface="Trebuchet MS"/>
              </a:defRPr>
            </a:pPr>
            <a:r>
              <a:t>4. Disabled Voters</a:t>
            </a:r>
          </a:p>
          <a:p>
            <a:pPr>
              <a:spcAft>
                <a:spcPts val="250"/>
              </a:spcAft>
              <a:defRPr sz="880">
                <a:solidFill>
                  <a:srgbClr val="E2E8F0"/>
                </a:solidFill>
                <a:latin typeface="Segoe UI"/>
              </a:defRPr>
            </a:pPr>
            <a:r>
              <a:t>• WHO GETS VALUE: 26M citizens.</a:t>
            </a:r>
          </a:p>
          <a:p>
            <a:pPr>
              <a:spcAft>
                <a:spcPts val="250"/>
              </a:spcAft>
              <a:defRPr sz="880">
                <a:solidFill>
                  <a:srgbClr val="E2E8F0"/>
                </a:solidFill>
                <a:latin typeface="Segoe UI"/>
              </a:defRPr>
            </a:pPr>
            <a:r>
              <a:t>• VALUE RECEIVED:</a:t>
            </a:r>
          </a:p>
          <a:p>
            <a:pPr>
              <a:spcAft>
                <a:spcPts val="250"/>
              </a:spcAft>
              <a:defRPr sz="880">
                <a:solidFill>
                  <a:srgbClr val="E2E8F0"/>
                </a:solidFill>
                <a:latin typeface="Segoe UI"/>
              </a:defRPr>
            </a:pPr>
            <a:r>
              <a:t>• • 100% unassisted secret vote.</a:t>
            </a:r>
          </a:p>
          <a:p>
            <a:pPr>
              <a:spcAft>
                <a:spcPts val="250"/>
              </a:spcAft>
              <a:defRPr sz="880">
                <a:solidFill>
                  <a:srgbClr val="E2E8F0"/>
                </a:solidFill>
                <a:latin typeface="Segoe UI"/>
              </a:defRPr>
            </a:pPr>
            <a:r>
              <a:t>• • Private directional voice IVR.</a:t>
            </a:r>
          </a:p>
          <a:p>
            <a:pPr>
              <a:spcAft>
                <a:spcPts val="250"/>
              </a:spcAft>
              <a:defRPr sz="880">
                <a:solidFill>
                  <a:srgbClr val="E2E8F0"/>
                </a:solidFill>
                <a:latin typeface="Segoe UI"/>
              </a:defRPr>
            </a:pPr>
            <a:r>
              <a:t>• • Zero dependence on helpers.</a:t>
            </a:r>
          </a:p>
          <a:p>
            <a:pPr>
              <a:spcAft>
                <a:spcPts val="250"/>
              </a:spcAft>
              <a:defRPr sz="880">
                <a:solidFill>
                  <a:srgbClr val="E2E8F0"/>
                </a:solidFill>
                <a:latin typeface="Segoe UI"/>
              </a:defRPr>
            </a:pPr>
            <a:r>
              <a:t>• • Wheelchair-height ergonomics.</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VALUE RETURNED:</a:t>
            </a:r>
          </a:p>
          <a:p>
            <a:pPr>
              <a:spcAft>
                <a:spcPts val="250"/>
              </a:spcAft>
              <a:defRPr sz="880">
                <a:solidFill>
                  <a:srgbClr val="E2E8F0"/>
                </a:solidFill>
                <a:latin typeface="Segoe UI"/>
              </a:defRPr>
            </a:pPr>
            <a:r>
              <a:t>• • Authentic representation.</a:t>
            </a:r>
          </a:p>
          <a:p>
            <a:pPr>
              <a:spcAft>
                <a:spcPts val="250"/>
              </a:spcAft>
              <a:defRPr sz="880">
                <a:solidFill>
                  <a:srgbClr val="E2E8F0"/>
                </a:solidFill>
                <a:latin typeface="Segoe UI"/>
              </a:defRPr>
            </a:pPr>
            <a:r>
              <a:t>• • True constitutional equality.</a:t>
            </a:r>
          </a:p>
        </p:txBody>
      </p:sp>
      <p:sp>
        <p:nvSpPr>
          <p:cNvPr id="10" name="Rounded Rectangle 9"/>
          <p:cNvSpPr/>
          <p:nvPr/>
        </p:nvSpPr>
        <p:spPr>
          <a:xfrm>
            <a:off x="9509760" y="1645920"/>
            <a:ext cx="1920240" cy="4389120"/>
          </a:xfrm>
          <a:prstGeom prst="roundRect">
            <a:avLst/>
          </a:prstGeom>
          <a:solidFill>
            <a:srgbClr val="141D2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2563EB"/>
                </a:solidFill>
                <a:latin typeface="Consolas"/>
              </a:defRPr>
            </a:pPr>
            <a:r>
              <a:t>[DEMOCRACY]</a:t>
            </a:r>
          </a:p>
          <a:p>
            <a:pPr>
              <a:spcAft>
                <a:spcPts val="400"/>
              </a:spcAft>
              <a:defRPr sz="1150" b="1">
                <a:solidFill>
                  <a:srgbClr val="FFFFFF"/>
                </a:solidFill>
                <a:latin typeface="Trebuchet MS"/>
              </a:defRPr>
            </a:pPr>
            <a:r>
              <a:t>5. Society at Large</a:t>
            </a:r>
          </a:p>
          <a:p>
            <a:pPr>
              <a:spcAft>
                <a:spcPts val="250"/>
              </a:spcAft>
              <a:defRPr sz="880">
                <a:solidFill>
                  <a:srgbClr val="E2E8F0"/>
                </a:solidFill>
                <a:latin typeface="Segoe UI"/>
              </a:defRPr>
            </a:pPr>
            <a:r>
              <a:t>• WHO GETS VALUE: 1.4B people.</a:t>
            </a:r>
          </a:p>
          <a:p>
            <a:pPr>
              <a:spcAft>
                <a:spcPts val="250"/>
              </a:spcAft>
              <a:defRPr sz="880">
                <a:solidFill>
                  <a:srgbClr val="E2E8F0"/>
                </a:solidFill>
                <a:latin typeface="Segoe UI"/>
              </a:defRPr>
            </a:pPr>
            <a:r>
              <a:t>• VALUE RECEIVED:</a:t>
            </a:r>
          </a:p>
          <a:p>
            <a:pPr>
              <a:spcAft>
                <a:spcPts val="250"/>
              </a:spcAft>
              <a:defRPr sz="880">
                <a:solidFill>
                  <a:srgbClr val="E2E8F0"/>
                </a:solidFill>
                <a:latin typeface="Segoe UI"/>
              </a:defRPr>
            </a:pPr>
            <a:r>
              <a:t>• • Undisputed election outcomes.</a:t>
            </a:r>
          </a:p>
          <a:p>
            <a:pPr>
              <a:spcAft>
                <a:spcPts val="250"/>
              </a:spcAft>
              <a:defRPr sz="880">
                <a:solidFill>
                  <a:srgbClr val="E2E8F0"/>
                </a:solidFill>
                <a:latin typeface="Segoe UI"/>
              </a:defRPr>
            </a:pPr>
            <a:r>
              <a:t>• • Dual crypto + paper trail.</a:t>
            </a:r>
          </a:p>
          <a:p>
            <a:pPr>
              <a:spcAft>
                <a:spcPts val="250"/>
              </a:spcAft>
              <a:defRPr sz="880">
                <a:solidFill>
                  <a:srgbClr val="E2E8F0"/>
                </a:solidFill>
                <a:latin typeface="Segoe UI"/>
              </a:defRPr>
            </a:pPr>
            <a:r>
              <a:t>• • Rapid, peaceful transitions.</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VALUE RETURNED:</a:t>
            </a:r>
          </a:p>
          <a:p>
            <a:pPr>
              <a:spcAft>
                <a:spcPts val="250"/>
              </a:spcAft>
              <a:defRPr sz="880">
                <a:solidFill>
                  <a:srgbClr val="E2E8F0"/>
                </a:solidFill>
                <a:latin typeface="Segoe UI"/>
              </a:defRPr>
            </a:pPr>
            <a:r>
              <a:t>• • Social stability.</a:t>
            </a:r>
          </a:p>
          <a:p>
            <a:pPr>
              <a:spcAft>
                <a:spcPts val="250"/>
              </a:spcAft>
              <a:defRPr sz="880">
                <a:solidFill>
                  <a:srgbClr val="E2E8F0"/>
                </a:solidFill>
                <a:latin typeface="Segoe UI"/>
              </a:defRPr>
            </a:pPr>
            <a:r>
              <a:t>• • Deep constitutional pride.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STRATEGIC PILLARS</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Opportunity Definition: The 3 Core Innovation Pillars</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Transforming voting booths from paper checkpoints into an empowering civic interface.</a:t>
            </a:r>
          </a:p>
        </p:txBody>
      </p:sp>
      <p:sp>
        <p:nvSpPr>
          <p:cNvPr id="6" name="Rounded Rectangle 5"/>
          <p:cNvSpPr/>
          <p:nvPr/>
        </p:nvSpPr>
        <p:spPr>
          <a:xfrm>
            <a:off x="731520" y="1645920"/>
            <a:ext cx="3383280" cy="4389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[PILLAR A]</a:t>
            </a:r>
          </a:p>
          <a:p>
            <a:pPr>
              <a:spcAft>
                <a:spcPts val="400"/>
              </a:spcAft>
              <a:defRPr sz="1150" b="1">
                <a:solidFill>
                  <a:srgbClr val="FFFFFF"/>
                </a:solidFill>
                <a:latin typeface="Trebuchet MS"/>
              </a:defRPr>
            </a:pPr>
            <a:r>
              <a:t>Pillar 1: Zero-Card Access</a:t>
            </a:r>
          </a:p>
          <a:p>
            <a:pPr>
              <a:spcAft>
                <a:spcPts val="250"/>
              </a:spcAft>
              <a:defRPr sz="880">
                <a:solidFill>
                  <a:srgbClr val="E2E8F0"/>
                </a:solidFill>
                <a:latin typeface="Segoe UI"/>
              </a:defRPr>
            </a:pPr>
            <a:r>
              <a:t>• Eliminate Voter ID Stress: Near-IR iris biometrics authenticate citizens in 1.8 seconds.</a:t>
            </a:r>
          </a:p>
          <a:p>
            <a:pPr>
              <a:spcAft>
                <a:spcPts val="250"/>
              </a:spcAft>
              <a:defRPr sz="880">
                <a:solidFill>
                  <a:srgbClr val="E2E8F0"/>
                </a:solidFill>
                <a:latin typeface="Segoe UI"/>
              </a:defRPr>
            </a:pPr>
            <a:r>
              <a:t>• Bypasses lost voter slips, clerical name misprints, and duplicate voter roll entries.</a:t>
            </a:r>
          </a:p>
          <a:p>
            <a:pPr>
              <a:spcAft>
                <a:spcPts val="250"/>
              </a:spcAft>
              <a:defRPr sz="880">
                <a:solidFill>
                  <a:srgbClr val="E2E8F0"/>
                </a:solidFill>
                <a:latin typeface="Segoe UI"/>
              </a:defRPr>
            </a:pPr>
            <a:r>
              <a:t>• Liveness Anti-Spoofing: Micro-pupillary fluctuation blocks 4K photos and video replays.</a:t>
            </a:r>
          </a:p>
          <a:p>
            <a:pPr>
              <a:spcAft>
                <a:spcPts val="250"/>
              </a:spcAft>
              <a:defRPr sz="880">
                <a:solidFill>
                  <a:srgbClr val="E2E8F0"/>
                </a:solidFill>
                <a:latin typeface="Segoe UI"/>
              </a:defRPr>
            </a:pPr>
            <a:r>
              <a:t>• Non-Invasive &amp; Eye-Safe: 100% eye-safe near-IR illumination pierces spectacles and cataracts.</a:t>
            </a:r>
          </a:p>
          <a:p>
            <a:pPr>
              <a:spcAft>
                <a:spcPts val="250"/>
              </a:spcAft>
              <a:defRPr sz="880">
                <a:solidFill>
                  <a:srgbClr val="E2E8F0"/>
                </a:solidFill>
                <a:latin typeface="Segoe UI"/>
              </a:defRPr>
            </a:pPr>
            <a:r>
              <a:t>• Result: Impersonation reduced by 95%; queue check-in bottleneck eliminated.</a:t>
            </a:r>
          </a:p>
        </p:txBody>
      </p:sp>
      <p:sp>
        <p:nvSpPr>
          <p:cNvPr id="7" name="Rounded Rectangle 6"/>
          <p:cNvSpPr/>
          <p:nvPr/>
        </p:nvSpPr>
        <p:spPr>
          <a:xfrm>
            <a:off x="4389120" y="1645920"/>
            <a:ext cx="338328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[PILLAR B]</a:t>
            </a:r>
          </a:p>
          <a:p>
            <a:pPr>
              <a:spcAft>
                <a:spcPts val="400"/>
              </a:spcAft>
              <a:defRPr sz="1150" b="1">
                <a:solidFill>
                  <a:srgbClr val="FFFFFF"/>
                </a:solidFill>
                <a:latin typeface="Trebuchet MS"/>
              </a:defRPr>
            </a:pPr>
            <a:r>
              <a:t>Pillar 2: Universal Multimodal</a:t>
            </a:r>
          </a:p>
          <a:p>
            <a:pPr>
              <a:spcAft>
                <a:spcPts val="250"/>
              </a:spcAft>
              <a:defRPr sz="880">
                <a:solidFill>
                  <a:srgbClr val="E2E8F0"/>
                </a:solidFill>
                <a:latin typeface="Segoe UI"/>
              </a:defRPr>
            </a:pPr>
            <a:r>
              <a:t>• Equal Democratic Citizenship: Choose tactile touch tapping or conversational voice commands.</a:t>
            </a:r>
          </a:p>
          <a:p>
            <a:pPr>
              <a:spcAft>
                <a:spcPts val="250"/>
              </a:spcAft>
              <a:defRPr sz="880">
                <a:solidFill>
                  <a:srgbClr val="E2E8F0"/>
                </a:solidFill>
                <a:latin typeface="Segoe UI"/>
              </a:defRPr>
            </a:pPr>
            <a:r>
              <a:t>• 9 Major Indian Languages: Native visual scripts and spoken voice audio for 1B citizens.</a:t>
            </a:r>
          </a:p>
          <a:p>
            <a:pPr>
              <a:spcAft>
                <a:spcPts val="250"/>
              </a:spcAft>
              <a:defRPr sz="880">
                <a:solidFill>
                  <a:srgbClr val="E2E8F0"/>
                </a:solidFill>
                <a:latin typeface="Segoe UI"/>
              </a:defRPr>
            </a:pPr>
            <a:r>
              <a:t>• Directional Acoustics: Soundwaves funneled to voter's ears to protect booth confidentiality.</a:t>
            </a:r>
          </a:p>
          <a:p>
            <a:pPr>
              <a:spcAft>
                <a:spcPts val="250"/>
              </a:spcAft>
              <a:defRPr sz="880">
                <a:solidFill>
                  <a:srgbClr val="E2E8F0"/>
                </a:solidFill>
                <a:latin typeface="Segoe UI"/>
              </a:defRPr>
            </a:pPr>
            <a:r>
              <a:t>• WCAG 2.1 AAA Compliance: Minimum 64px touch targets, 7:1 contrast, and font scaling (+20%/+35%).</a:t>
            </a:r>
          </a:p>
          <a:p>
            <a:pPr>
              <a:spcAft>
                <a:spcPts val="250"/>
              </a:spcAft>
              <a:defRPr sz="880">
                <a:solidFill>
                  <a:srgbClr val="E2E8F0"/>
                </a:solidFill>
                <a:latin typeface="Segoe UI"/>
              </a:defRPr>
            </a:pPr>
            <a:r>
              <a:t>• Result: 92% unassisted task success among elderly and visually impaired voters.</a:t>
            </a:r>
          </a:p>
        </p:txBody>
      </p:sp>
      <p:sp>
        <p:nvSpPr>
          <p:cNvPr id="8" name="Rounded Rectangle 7"/>
          <p:cNvSpPr/>
          <p:nvPr/>
        </p:nvSpPr>
        <p:spPr>
          <a:xfrm>
            <a:off x="8046720" y="1645920"/>
            <a:ext cx="3383280" cy="4389120"/>
          </a:xfrm>
          <a:prstGeom prst="roundRect">
            <a:avLst/>
          </a:prstGeom>
          <a:solidFill>
            <a:srgbClr val="141D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F59E0B"/>
                </a:solidFill>
                <a:latin typeface="Consolas"/>
              </a:defRPr>
            </a:pPr>
            <a:r>
              <a:t>[PILLAR C]</a:t>
            </a:r>
          </a:p>
          <a:p>
            <a:pPr>
              <a:spcAft>
                <a:spcPts val="400"/>
              </a:spcAft>
              <a:defRPr sz="1150" b="1">
                <a:solidFill>
                  <a:srgbClr val="FFFFFF"/>
                </a:solidFill>
                <a:latin typeface="Trebuchet MS"/>
              </a:defRPr>
            </a:pPr>
            <a:r>
              <a:t>Pillar 3: Verifiable Civic Trust</a:t>
            </a:r>
          </a:p>
          <a:p>
            <a:pPr>
              <a:spcAft>
                <a:spcPts val="250"/>
              </a:spcAft>
              <a:defRPr sz="880">
                <a:solidFill>
                  <a:srgbClr val="E2E8F0"/>
                </a:solidFill>
                <a:latin typeface="Segoe UI"/>
              </a:defRPr>
            </a:pPr>
            <a:r>
              <a:t>• Bridging Digital &amp; Physical: Combines offline cryptography with tangible physical paper proof.</a:t>
            </a:r>
          </a:p>
          <a:p>
            <a:pPr>
              <a:spcAft>
                <a:spcPts val="250"/>
              </a:spcAft>
              <a:defRPr sz="880">
                <a:solidFill>
                  <a:srgbClr val="E2E8F0"/>
                </a:solidFill>
                <a:latin typeface="Segoe UI"/>
              </a:defRPr>
            </a:pPr>
            <a:r>
              <a:t>• Local Cryptographic Ledger: Votes sealed into offline SHA-256 Merkle tree blocks.</a:t>
            </a:r>
          </a:p>
          <a:p>
            <a:pPr>
              <a:spcAft>
                <a:spcPts val="250"/>
              </a:spcAft>
              <a:defRPr sz="880">
                <a:solidFill>
                  <a:srgbClr val="E2E8F0"/>
                </a:solidFill>
                <a:latin typeface="Segoe UI"/>
              </a:defRPr>
            </a:pPr>
            <a:r>
              <a:t>• Thermal VVPAT 2.0 Slip: Printed paper receipt drops behind sealed glass chamber for 7 seconds.</a:t>
            </a:r>
          </a:p>
          <a:p>
            <a:pPr>
              <a:spcAft>
                <a:spcPts val="250"/>
              </a:spcAft>
              <a:defRPr sz="880">
                <a:solidFill>
                  <a:srgbClr val="E2E8F0"/>
                </a:solidFill>
                <a:latin typeface="Segoe UI"/>
              </a:defRPr>
            </a:pPr>
            <a:r>
              <a:t>• Zero Cloud Dependency: Air-gapped booth architecture guarantees immunity from remote cyber attacks.</a:t>
            </a:r>
          </a:p>
          <a:p>
            <a:pPr>
              <a:spcAft>
                <a:spcPts val="250"/>
              </a:spcAft>
              <a:defRPr sz="880">
                <a:solidFill>
                  <a:srgbClr val="E2E8F0"/>
                </a:solidFill>
                <a:latin typeface="Segoe UI"/>
              </a:defRPr>
            </a:pPr>
            <a:r>
              <a:t>• Result: 96% citizen trust rating in usability field trials.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LINGUISTIC ARCHITECTURE</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UX Strategy &amp; Multilingual Engine in 9 Indian Languages</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Engineering linguistic sovereignty for 1 Billion citizens across diverse regional scripts.</a:t>
            </a:r>
          </a:p>
        </p:txBody>
      </p:sp>
      <p:sp>
        <p:nvSpPr>
          <p:cNvPr id="6" name="Rounded Rectangle 5"/>
          <p:cNvSpPr/>
          <p:nvPr/>
        </p:nvSpPr>
        <p:spPr>
          <a:xfrm>
            <a:off x="731520" y="1645920"/>
            <a:ext cx="5212080" cy="4389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[DESIGN PHILOSOPHY]</a:t>
            </a:r>
          </a:p>
          <a:p>
            <a:pPr>
              <a:spcAft>
                <a:spcPts val="400"/>
              </a:spcAft>
              <a:defRPr sz="1150" b="1">
                <a:solidFill>
                  <a:srgbClr val="FFFFFF"/>
                </a:solidFill>
                <a:latin typeface="Trebuchet MS"/>
              </a:defRPr>
            </a:pPr>
            <a:r>
              <a:t>5 Golden Civic UX Principles</a:t>
            </a:r>
          </a:p>
          <a:p>
            <a:pPr>
              <a:spcAft>
                <a:spcPts val="250"/>
              </a:spcAft>
              <a:defRPr sz="880">
                <a:solidFill>
                  <a:srgbClr val="E2E8F0"/>
                </a:solidFill>
                <a:latin typeface="Segoe UI"/>
              </a:defRPr>
            </a:pPr>
            <a:r>
              <a:t>• 1. Radical Simplicity: Simple plain English and regional phrasing; zero legalistic jargon.</a:t>
            </a:r>
          </a:p>
          <a:p>
            <a:pPr>
              <a:spcAft>
                <a:spcPts val="250"/>
              </a:spcAft>
              <a:defRPr sz="880">
                <a:solidFill>
                  <a:srgbClr val="E2E8F0"/>
                </a:solidFill>
                <a:latin typeface="Segoe UI"/>
              </a:defRPr>
            </a:pPr>
            <a:r>
              <a:t>• 2. Privacy by Architecture: Ephemeral session tokens; biometric templates wiped immediately.</a:t>
            </a:r>
          </a:p>
          <a:p>
            <a:pPr>
              <a:spcAft>
                <a:spcPts val="250"/>
              </a:spcAft>
              <a:defRPr sz="880">
                <a:solidFill>
                  <a:srgbClr val="E2E8F0"/>
                </a:solidFill>
                <a:latin typeface="Segoe UI"/>
              </a:defRPr>
            </a:pPr>
            <a:r>
              <a:t>• 3. Multimodal Equality: Conversational voice and touchscreen taps share identical authority.</a:t>
            </a:r>
          </a:p>
          <a:p>
            <a:pPr>
              <a:spcAft>
                <a:spcPts val="250"/>
              </a:spcAft>
              <a:defRPr sz="880">
                <a:solidFill>
                  <a:srgbClr val="E2E8F0"/>
                </a:solidFill>
                <a:latin typeface="Segoe UI"/>
              </a:defRPr>
            </a:pPr>
            <a:r>
              <a:t>• 4. Forgiving Interactions: 2-tier modal confirmation stops accidental candidate mis-taps.</a:t>
            </a:r>
          </a:p>
          <a:p>
            <a:pPr>
              <a:spcAft>
                <a:spcPts val="250"/>
              </a:spcAft>
              <a:defRPr sz="880">
                <a:solidFill>
                  <a:srgbClr val="E2E8F0"/>
                </a:solidFill>
                <a:latin typeface="Segoe UI"/>
              </a:defRPr>
            </a:pPr>
            <a:r>
              <a:t>• 5. Dignified Error Recovery: 3-attempt scan limit with audio-guided re-alignment before officer handoff.</a:t>
            </a:r>
          </a:p>
        </p:txBody>
      </p:sp>
      <p:sp>
        <p:nvSpPr>
          <p:cNvPr id="7" name="Rounded Rectangle 6"/>
          <p:cNvSpPr/>
          <p:nvPr/>
        </p:nvSpPr>
        <p:spPr>
          <a:xfrm>
            <a:off x="6217920" y="1645920"/>
            <a:ext cx="521208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[PAN-INDIA REACH]</a:t>
            </a:r>
          </a:p>
          <a:p>
            <a:pPr>
              <a:spcAft>
                <a:spcPts val="400"/>
              </a:spcAft>
              <a:defRPr sz="1150" b="1">
                <a:solidFill>
                  <a:srgbClr val="FFFFFF"/>
                </a:solidFill>
                <a:latin typeface="Trebuchet MS"/>
              </a:defRPr>
            </a:pPr>
            <a:r>
              <a:t>9 Integrated Indian Languages</a:t>
            </a:r>
          </a:p>
          <a:p>
            <a:pPr>
              <a:spcAft>
                <a:spcPts val="250"/>
              </a:spcAft>
              <a:defRPr sz="880">
                <a:solidFill>
                  <a:srgbClr val="E2E8F0"/>
                </a:solidFill>
                <a:latin typeface="Segoe UI"/>
              </a:defRPr>
            </a:pPr>
            <a:r>
              <a:t>• • Hindi (हिन्दी) — 528M Speakers • 'नयन वोट में आपका स्वागत है'</a:t>
            </a:r>
          </a:p>
          <a:p>
            <a:pPr>
              <a:spcAft>
                <a:spcPts val="250"/>
              </a:spcAft>
              <a:defRPr sz="880">
                <a:solidFill>
                  <a:srgbClr val="E2E8F0"/>
                </a:solidFill>
                <a:latin typeface="Segoe UI"/>
              </a:defRPr>
            </a:pPr>
            <a:r>
              <a:t>• • English — 130M Speakers • 'Welcome to Nayan Vote'</a:t>
            </a:r>
          </a:p>
          <a:p>
            <a:pPr>
              <a:spcAft>
                <a:spcPts val="250"/>
              </a:spcAft>
              <a:defRPr sz="880">
                <a:solidFill>
                  <a:srgbClr val="E2E8F0"/>
                </a:solidFill>
                <a:latin typeface="Segoe UI"/>
              </a:defRPr>
            </a:pPr>
            <a:r>
              <a:t>• • Bengali (বাংলা) — 97M Speakers • 'নয়ন ভোটে আপনাকে স্বাগতম'</a:t>
            </a:r>
          </a:p>
          <a:p>
            <a:pPr>
              <a:spcAft>
                <a:spcPts val="250"/>
              </a:spcAft>
              <a:defRPr sz="880">
                <a:solidFill>
                  <a:srgbClr val="E2E8F0"/>
                </a:solidFill>
                <a:latin typeface="Segoe UI"/>
              </a:defRPr>
            </a:pPr>
            <a:r>
              <a:t>• • Telugu (తెలుగు) — 81M Speakers • 'నయన్ ఓట్‌కి స్వాగతం'</a:t>
            </a:r>
          </a:p>
          <a:p>
            <a:pPr>
              <a:spcAft>
                <a:spcPts val="250"/>
              </a:spcAft>
              <a:defRPr sz="880">
                <a:solidFill>
                  <a:srgbClr val="E2E8F0"/>
                </a:solidFill>
                <a:latin typeface="Segoe UI"/>
              </a:defRPr>
            </a:pPr>
            <a:r>
              <a:t>• • Marathi (मराठी) — 83M Speakers • 'नयन व्होट मध्ये आपले स्वागत आहे'</a:t>
            </a:r>
          </a:p>
          <a:p>
            <a:pPr>
              <a:spcAft>
                <a:spcPts val="250"/>
              </a:spcAft>
              <a:defRPr sz="880">
                <a:solidFill>
                  <a:srgbClr val="E2E8F0"/>
                </a:solidFill>
                <a:latin typeface="Segoe UI"/>
              </a:defRPr>
            </a:pPr>
            <a:r>
              <a:t>• • Tamil (தமிழ்) — 69M Speakers • 'நயன் வாக்குப்பதிவிற்கு வரவேற்கிறோம்'</a:t>
            </a:r>
          </a:p>
          <a:p>
            <a:pPr>
              <a:spcAft>
                <a:spcPts val="250"/>
              </a:spcAft>
              <a:defRPr sz="880">
                <a:solidFill>
                  <a:srgbClr val="E2E8F0"/>
                </a:solidFill>
                <a:latin typeface="Segoe UI"/>
              </a:defRPr>
            </a:pPr>
            <a:r>
              <a:t>• • Gujarati (ગુજરાતી) — 55M Speakers • 'નયન વોટમાં આપનું સ્વાગત છે'</a:t>
            </a:r>
          </a:p>
          <a:p>
            <a:pPr>
              <a:spcAft>
                <a:spcPts val="250"/>
              </a:spcAft>
              <a:defRPr sz="880">
                <a:solidFill>
                  <a:srgbClr val="E2E8F0"/>
                </a:solidFill>
                <a:latin typeface="Segoe UI"/>
              </a:defRPr>
            </a:pPr>
            <a:r>
              <a:t>• • Kannada (ಕನ್ನಡ) — 44M Speakers • 'ನಯನ್ ವೋಟ್‌ಗೆ ಸುಸ್ವಾಗತ'</a:t>
            </a:r>
          </a:p>
          <a:p>
            <a:pPr>
              <a:spcAft>
                <a:spcPts val="250"/>
              </a:spcAft>
              <a:defRPr sz="880">
                <a:solidFill>
                  <a:srgbClr val="E2E8F0"/>
                </a:solidFill>
                <a:latin typeface="Segoe UI"/>
              </a:defRPr>
            </a:pPr>
            <a:r>
              <a:t>• • Malayalam (മലയാളം) — 35M Speakers • 'നയൻ വോട്ടിലേക്ക് സ്വാഗതം'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INFORMATION ARCHITECTURE</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Information Architecture &amp; Frictionless 7-Step Voter Flow</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Minimizing cognitive load with a single clear action per screen.</a:t>
            </a:r>
          </a:p>
        </p:txBody>
      </p:sp>
      <p:sp>
        <p:nvSpPr>
          <p:cNvPr id="6" name="Rounded Rectangle 5"/>
          <p:cNvSpPr/>
          <p:nvPr/>
        </p:nvSpPr>
        <p:spPr>
          <a:xfrm>
            <a:off x="731520" y="1645920"/>
            <a:ext cx="1463040" cy="4389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[SCREEN 1]</a:t>
            </a:r>
          </a:p>
          <a:p>
            <a:pPr>
              <a:spcAft>
                <a:spcPts val="400"/>
              </a:spcAft>
              <a:defRPr sz="1150" b="1">
                <a:solidFill>
                  <a:srgbClr val="FFFFFF"/>
                </a:solidFill>
                <a:latin typeface="Trebuchet MS"/>
              </a:defRPr>
            </a:pPr>
            <a:r>
              <a:t>Step 1: Welcome</a:t>
            </a:r>
          </a:p>
          <a:p>
            <a:pPr>
              <a:spcAft>
                <a:spcPts val="250"/>
              </a:spcAft>
              <a:defRPr sz="880">
                <a:solidFill>
                  <a:srgbClr val="E2E8F0"/>
                </a:solidFill>
                <a:latin typeface="Segoe UI"/>
              </a:defRPr>
            </a:pPr>
            <a:r>
              <a:t>• Select mother tongue from 9 Indian language tiles.</a:t>
            </a:r>
          </a:p>
          <a:p>
            <a:pPr>
              <a:spcAft>
                <a:spcPts val="250"/>
              </a:spcAft>
              <a:defRPr sz="880">
                <a:solidFill>
                  <a:srgbClr val="E2E8F0"/>
                </a:solidFill>
                <a:latin typeface="Segoe UI"/>
              </a:defRPr>
            </a:pPr>
            <a:r>
              <a:t>• Spoken audio greets voter in selected dialect.</a:t>
            </a:r>
          </a:p>
          <a:p>
            <a:pPr>
              <a:spcAft>
                <a:spcPts val="250"/>
              </a:spcAft>
              <a:defRPr sz="880">
                <a:solidFill>
                  <a:srgbClr val="E2E8F0"/>
                </a:solidFill>
                <a:latin typeface="Segoe UI"/>
              </a:defRPr>
            </a:pPr>
            <a:r>
              <a:t>• Top accessibility bar for contrast &amp; font scale.</a:t>
            </a:r>
          </a:p>
        </p:txBody>
      </p:sp>
      <p:sp>
        <p:nvSpPr>
          <p:cNvPr id="7" name="Rounded Rectangle 6"/>
          <p:cNvSpPr/>
          <p:nvPr/>
        </p:nvSpPr>
        <p:spPr>
          <a:xfrm>
            <a:off x="2286000" y="1645920"/>
            <a:ext cx="146304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[SCREEN 2]</a:t>
            </a:r>
          </a:p>
          <a:p>
            <a:pPr>
              <a:spcAft>
                <a:spcPts val="400"/>
              </a:spcAft>
              <a:defRPr sz="1150" b="1">
                <a:solidFill>
                  <a:srgbClr val="FFFFFF"/>
                </a:solidFill>
                <a:latin typeface="Trebuchet MS"/>
              </a:defRPr>
            </a:pPr>
            <a:r>
              <a:t>Step 2: Iris Scan</a:t>
            </a:r>
          </a:p>
          <a:p>
            <a:pPr>
              <a:spcAft>
                <a:spcPts val="250"/>
              </a:spcAft>
              <a:defRPr sz="880">
                <a:solidFill>
                  <a:srgbClr val="E2E8F0"/>
                </a:solidFill>
                <a:latin typeface="Segoe UI"/>
              </a:defRPr>
            </a:pPr>
            <a:r>
              <a:t>• Look into near-IR camera at eye level.</a:t>
            </a:r>
          </a:p>
          <a:p>
            <a:pPr>
              <a:spcAft>
                <a:spcPts val="250"/>
              </a:spcAft>
              <a:defRPr sz="880">
                <a:solidFill>
                  <a:srgbClr val="E2E8F0"/>
                </a:solidFill>
                <a:latin typeface="Segoe UI"/>
              </a:defRPr>
            </a:pPr>
            <a:r>
              <a:t>• Concentric reticle guides eye alignment.</a:t>
            </a:r>
          </a:p>
          <a:p>
            <a:pPr>
              <a:spcAft>
                <a:spcPts val="250"/>
              </a:spcAft>
              <a:defRPr sz="880">
                <a:solidFill>
                  <a:srgbClr val="E2E8F0"/>
                </a:solidFill>
                <a:latin typeface="Segoe UI"/>
              </a:defRPr>
            </a:pPr>
            <a:r>
              <a:t>• 1.8s scan with 3-attempt retry counter.</a:t>
            </a:r>
          </a:p>
        </p:txBody>
      </p:sp>
      <p:sp>
        <p:nvSpPr>
          <p:cNvPr id="8" name="Rounded Rectangle 7"/>
          <p:cNvSpPr/>
          <p:nvPr/>
        </p:nvSpPr>
        <p:spPr>
          <a:xfrm>
            <a:off x="3840480" y="1645920"/>
            <a:ext cx="1463040" cy="4389120"/>
          </a:xfrm>
          <a:prstGeom prst="roundRect">
            <a:avLst/>
          </a:prstGeom>
          <a:solidFill>
            <a:srgbClr val="141D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A855F7"/>
                </a:solidFill>
                <a:latin typeface="Consolas"/>
              </a:defRPr>
            </a:pPr>
            <a:r>
              <a:t>[SCREEN 3]</a:t>
            </a:r>
          </a:p>
          <a:p>
            <a:pPr>
              <a:spcAft>
                <a:spcPts val="400"/>
              </a:spcAft>
              <a:defRPr sz="1150" b="1">
                <a:solidFill>
                  <a:srgbClr val="FFFFFF"/>
                </a:solidFill>
                <a:latin typeface="Trebuchet MS"/>
              </a:defRPr>
            </a:pPr>
            <a:r>
              <a:t>Step 3: Verification</a:t>
            </a:r>
          </a:p>
          <a:p>
            <a:pPr>
              <a:spcAft>
                <a:spcPts val="250"/>
              </a:spcAft>
              <a:defRPr sz="880">
                <a:solidFill>
                  <a:srgbClr val="E2E8F0"/>
                </a:solidFill>
                <a:latin typeface="Segoe UI"/>
              </a:defRPr>
            </a:pPr>
            <a:r>
              <a:t>• Green badge confirms registered voter.</a:t>
            </a:r>
          </a:p>
          <a:p>
            <a:pPr>
              <a:spcAft>
                <a:spcPts val="250"/>
              </a:spcAft>
              <a:defRPr sz="880">
                <a:solidFill>
                  <a:srgbClr val="E2E8F0"/>
                </a:solidFill>
                <a:latin typeface="Segoe UI"/>
              </a:defRPr>
            </a:pPr>
            <a:r>
              <a:t>• Anonymous token issued; biometrics wiped.</a:t>
            </a:r>
          </a:p>
          <a:p>
            <a:pPr>
              <a:spcAft>
                <a:spcPts val="250"/>
              </a:spcAft>
              <a:defRPr sz="880">
                <a:solidFill>
                  <a:srgbClr val="E2E8F0"/>
                </a:solidFill>
                <a:latin typeface="Segoe UI"/>
              </a:defRPr>
            </a:pPr>
            <a:r>
              <a:t>• Unverified cases routed calmly to officer.</a:t>
            </a:r>
          </a:p>
        </p:txBody>
      </p:sp>
      <p:sp>
        <p:nvSpPr>
          <p:cNvPr id="9" name="Rounded Rectangle 8"/>
          <p:cNvSpPr/>
          <p:nvPr/>
        </p:nvSpPr>
        <p:spPr>
          <a:xfrm>
            <a:off x="5394960" y="1645920"/>
            <a:ext cx="1463040" cy="4389120"/>
          </a:xfrm>
          <a:prstGeom prst="roundRect">
            <a:avLst/>
          </a:prstGeom>
          <a:solidFill>
            <a:srgbClr val="141D2F"/>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38BDF8"/>
                </a:solidFill>
                <a:latin typeface="Consolas"/>
              </a:defRPr>
            </a:pPr>
            <a:r>
              <a:t>[SCREEN 4]</a:t>
            </a:r>
          </a:p>
          <a:p>
            <a:pPr>
              <a:spcAft>
                <a:spcPts val="400"/>
              </a:spcAft>
              <a:defRPr sz="1150" b="1">
                <a:solidFill>
                  <a:srgbClr val="FFFFFF"/>
                </a:solidFill>
                <a:latin typeface="Trebuchet MS"/>
              </a:defRPr>
            </a:pPr>
            <a:r>
              <a:t>Step 4: Mode Choice</a:t>
            </a:r>
          </a:p>
          <a:p>
            <a:pPr>
              <a:spcAft>
                <a:spcPts val="250"/>
              </a:spcAft>
              <a:defRPr sz="880">
                <a:solidFill>
                  <a:srgbClr val="E2E8F0"/>
                </a:solidFill>
                <a:latin typeface="Segoe UI"/>
              </a:defRPr>
            </a:pPr>
            <a:r>
              <a:t>• Choose Touch Screen or Voice Command voting.</a:t>
            </a:r>
          </a:p>
          <a:p>
            <a:pPr>
              <a:spcAft>
                <a:spcPts val="250"/>
              </a:spcAft>
              <a:defRPr sz="880">
                <a:solidFill>
                  <a:srgbClr val="E2E8F0"/>
                </a:solidFill>
                <a:latin typeface="Segoe UI"/>
              </a:defRPr>
            </a:pPr>
            <a:r>
              <a:t>• 50/50 split screen with massive cards.</a:t>
            </a:r>
          </a:p>
          <a:p>
            <a:pPr>
              <a:spcAft>
                <a:spcPts val="250"/>
              </a:spcAft>
              <a:defRPr sz="880">
                <a:solidFill>
                  <a:srgbClr val="E2E8F0"/>
                </a:solidFill>
                <a:latin typeface="Segoe UI"/>
              </a:defRPr>
            </a:pPr>
            <a:r>
              <a:t>• Voice empowers blind and motor-impaired.</a:t>
            </a:r>
          </a:p>
        </p:txBody>
      </p:sp>
      <p:sp>
        <p:nvSpPr>
          <p:cNvPr id="10" name="Rounded Rectangle 9"/>
          <p:cNvSpPr/>
          <p:nvPr/>
        </p:nvSpPr>
        <p:spPr>
          <a:xfrm>
            <a:off x="6949440" y="1645920"/>
            <a:ext cx="1463040" cy="4389120"/>
          </a:xfrm>
          <a:prstGeom prst="roundRect">
            <a:avLst/>
          </a:prstGeom>
          <a:solidFill>
            <a:srgbClr val="141D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F59E0B"/>
                </a:solidFill>
                <a:latin typeface="Consolas"/>
              </a:defRPr>
            </a:pPr>
            <a:r>
              <a:t>[SCREEN 5]</a:t>
            </a:r>
          </a:p>
          <a:p>
            <a:pPr>
              <a:spcAft>
                <a:spcPts val="400"/>
              </a:spcAft>
              <a:defRPr sz="1150" b="1">
                <a:solidFill>
                  <a:srgbClr val="FFFFFF"/>
                </a:solidFill>
                <a:latin typeface="Trebuchet MS"/>
              </a:defRPr>
            </a:pPr>
            <a:r>
              <a:t>Step 5: Ballot Cast</a:t>
            </a:r>
          </a:p>
          <a:p>
            <a:pPr>
              <a:spcAft>
                <a:spcPts val="250"/>
              </a:spcAft>
              <a:defRPr sz="880">
                <a:solidFill>
                  <a:srgbClr val="E2E8F0"/>
                </a:solidFill>
                <a:latin typeface="Segoe UI"/>
              </a:defRPr>
            </a:pPr>
            <a:r>
              <a:t>• Candidates shown with photo, symbol &amp; name.</a:t>
            </a:r>
          </a:p>
          <a:p>
            <a:pPr>
              <a:spcAft>
                <a:spcPts val="250"/>
              </a:spcAft>
              <a:defRPr sz="880">
                <a:solidFill>
                  <a:srgbClr val="E2E8F0"/>
                </a:solidFill>
                <a:latin typeface="Segoe UI"/>
              </a:defRPr>
            </a:pPr>
            <a:r>
              <a:t>• Tap card or speak candidate number aloud.</a:t>
            </a:r>
          </a:p>
          <a:p>
            <a:pPr>
              <a:spcAft>
                <a:spcPts val="250"/>
              </a:spcAft>
              <a:defRPr sz="880">
                <a:solidFill>
                  <a:srgbClr val="E2E8F0"/>
                </a:solidFill>
                <a:latin typeface="Segoe UI"/>
              </a:defRPr>
            </a:pPr>
            <a:r>
              <a:t>• High-contrast color-coded party symbols.</a:t>
            </a:r>
          </a:p>
        </p:txBody>
      </p:sp>
      <p:sp>
        <p:nvSpPr>
          <p:cNvPr id="11" name="Rounded Rectangle 10"/>
          <p:cNvSpPr/>
          <p:nvPr/>
        </p:nvSpPr>
        <p:spPr>
          <a:xfrm>
            <a:off x="8503920" y="1645920"/>
            <a:ext cx="1463040" cy="4389120"/>
          </a:xfrm>
          <a:prstGeom prst="roundRect">
            <a:avLst/>
          </a:prstGeom>
          <a:solidFill>
            <a:srgbClr val="141D2F"/>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EF4444"/>
                </a:solidFill>
                <a:latin typeface="Consolas"/>
              </a:defRPr>
            </a:pPr>
            <a:r>
              <a:t>[CONFIRMATION]</a:t>
            </a:r>
          </a:p>
          <a:p>
            <a:pPr>
              <a:spcAft>
                <a:spcPts val="400"/>
              </a:spcAft>
              <a:defRPr sz="1150" b="1">
                <a:solidFill>
                  <a:srgbClr val="FFFFFF"/>
                </a:solidFill>
                <a:latin typeface="Trebuchet MS"/>
              </a:defRPr>
            </a:pPr>
            <a:r>
              <a:t>Step 6: Confirmation</a:t>
            </a:r>
          </a:p>
          <a:p>
            <a:pPr>
              <a:spcAft>
                <a:spcPts val="250"/>
              </a:spcAft>
              <a:defRPr sz="880">
                <a:solidFill>
                  <a:srgbClr val="E2E8F0"/>
                </a:solidFill>
                <a:latin typeface="Segoe UI"/>
              </a:defRPr>
            </a:pPr>
            <a:r>
              <a:t>• 2-tier modal dialog: 'Are you sure?'</a:t>
            </a:r>
          </a:p>
          <a:p>
            <a:pPr>
              <a:spcAft>
                <a:spcPts val="250"/>
              </a:spcAft>
              <a:defRPr sz="880">
                <a:solidFill>
                  <a:srgbClr val="E2E8F0"/>
                </a:solidFill>
                <a:latin typeface="Segoe UI"/>
              </a:defRPr>
            </a:pPr>
            <a:r>
              <a:t>• Speaks candidate name aloud for clarity.</a:t>
            </a:r>
          </a:p>
          <a:p>
            <a:pPr>
              <a:spcAft>
                <a:spcPts val="250"/>
              </a:spcAft>
              <a:defRPr sz="880">
                <a:solidFill>
                  <a:srgbClr val="E2E8F0"/>
                </a:solidFill>
                <a:latin typeface="Segoe UI"/>
              </a:defRPr>
            </a:pPr>
            <a:r>
              <a:t>• Voter confirms verbally or via touch.</a:t>
            </a:r>
          </a:p>
        </p:txBody>
      </p:sp>
      <p:sp>
        <p:nvSpPr>
          <p:cNvPr id="12" name="Rounded Rectangle 11"/>
          <p:cNvSpPr/>
          <p:nvPr/>
        </p:nvSpPr>
        <p:spPr>
          <a:xfrm>
            <a:off x="10058400" y="1645920"/>
            <a:ext cx="137160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[SCREEN 6]</a:t>
            </a:r>
          </a:p>
          <a:p>
            <a:pPr>
              <a:spcAft>
                <a:spcPts val="400"/>
              </a:spcAft>
              <a:defRPr sz="1150" b="1">
                <a:solidFill>
                  <a:srgbClr val="FFFFFF"/>
                </a:solidFill>
                <a:latin typeface="Trebuchet MS"/>
              </a:defRPr>
            </a:pPr>
            <a:r>
              <a:t>Step 7: VVPAT Exit</a:t>
            </a:r>
          </a:p>
          <a:p>
            <a:pPr>
              <a:spcAft>
                <a:spcPts val="250"/>
              </a:spcAft>
              <a:defRPr sz="880">
                <a:solidFill>
                  <a:srgbClr val="E2E8F0"/>
                </a:solidFill>
                <a:latin typeface="Segoe UI"/>
              </a:defRPr>
            </a:pPr>
            <a:r>
              <a:t>• Vote cast checkmark animation plays.</a:t>
            </a:r>
          </a:p>
          <a:p>
            <a:pPr>
              <a:spcAft>
                <a:spcPts val="250"/>
              </a:spcAft>
              <a:defRPr sz="880">
                <a:solidFill>
                  <a:srgbClr val="E2E8F0"/>
                </a:solidFill>
                <a:latin typeface="Segoe UI"/>
              </a:defRPr>
            </a:pPr>
            <a:r>
              <a:t>• Thermal VVPAT slip visible for 7 seconds.</a:t>
            </a:r>
          </a:p>
          <a:p>
            <a:pPr>
              <a:spcAft>
                <a:spcPts val="250"/>
              </a:spcAft>
              <a:defRPr sz="880">
                <a:solidFill>
                  <a:srgbClr val="E2E8F0"/>
                </a:solidFill>
                <a:latin typeface="Segoe UI"/>
              </a:defRPr>
            </a:pPr>
            <a:r>
              <a:t>• Kiosk zeroizes session memory in 5s.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IDEATION &amp; EVOLUTION</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Concept Development: From Early Prototypes to Winning Kiosk</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Iterative hardware-software exploration discarded weak concepts in favor of integrated ergonomics.</a:t>
            </a:r>
          </a:p>
        </p:txBody>
      </p:sp>
      <p:sp>
        <p:nvSpPr>
          <p:cNvPr id="6" name="Rounded Rectangle 5"/>
          <p:cNvSpPr/>
          <p:nvPr/>
        </p:nvSpPr>
        <p:spPr>
          <a:xfrm>
            <a:off x="731520" y="1645920"/>
            <a:ext cx="3383280" cy="4389120"/>
          </a:xfrm>
          <a:prstGeom prst="roundRect">
            <a:avLst/>
          </a:prstGeom>
          <a:solidFill>
            <a:srgbClr val="141D2F"/>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EF4444"/>
                </a:solidFill>
                <a:latin typeface="Consolas"/>
              </a:defRPr>
            </a:pPr>
            <a:r>
              <a:t>[CONCEPT A]</a:t>
            </a:r>
          </a:p>
          <a:p>
            <a:pPr>
              <a:spcAft>
                <a:spcPts val="400"/>
              </a:spcAft>
              <a:defRPr sz="1150" b="1">
                <a:solidFill>
                  <a:srgbClr val="FFFFFF"/>
                </a:solidFill>
                <a:latin typeface="Trebuchet MS"/>
              </a:defRPr>
            </a:pPr>
            <a:r>
              <a:t>Concept A: Handheld Tablet (Rejected)</a:t>
            </a:r>
          </a:p>
          <a:p>
            <a:pPr>
              <a:spcAft>
                <a:spcPts val="250"/>
              </a:spcAft>
              <a:defRPr sz="880">
                <a:solidFill>
                  <a:srgbClr val="E2E8F0"/>
                </a:solidFill>
                <a:latin typeface="Segoe UI"/>
              </a:defRPr>
            </a:pPr>
            <a:r>
              <a:t>• Design: Portable 10-inch commercial Android tablets with fingerprint scanners.</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Critical Flaws Identified in Testing:</a:t>
            </a:r>
          </a:p>
          <a:p>
            <a:pPr>
              <a:spcAft>
                <a:spcPts val="250"/>
              </a:spcAft>
              <a:defRPr sz="880">
                <a:solidFill>
                  <a:srgbClr val="E2E8F0"/>
                </a:solidFill>
                <a:latin typeface="Segoe UI"/>
              </a:defRPr>
            </a:pPr>
            <a:r>
              <a:t>• • Extreme vulnerability to physical drops and battery drain in remote booths.</a:t>
            </a:r>
          </a:p>
          <a:p>
            <a:pPr>
              <a:spcAft>
                <a:spcPts val="250"/>
              </a:spcAft>
              <a:defRPr sz="880">
                <a:solidFill>
                  <a:srgbClr val="E2E8F0"/>
                </a:solidFill>
                <a:latin typeface="Segoe UI"/>
              </a:defRPr>
            </a:pPr>
            <a:r>
              <a:t>• • Glare from overhead sunlight and lack of visual privacy in open school booths.</a:t>
            </a:r>
          </a:p>
          <a:p>
            <a:pPr>
              <a:spcAft>
                <a:spcPts val="250"/>
              </a:spcAft>
              <a:defRPr sz="880">
                <a:solidFill>
                  <a:srgbClr val="E2E8F0"/>
                </a:solidFill>
                <a:latin typeface="Segoe UI"/>
              </a:defRPr>
            </a:pPr>
            <a:r>
              <a:t>• • Tablet easily tilted, compromising secret ballot from queue observers.</a:t>
            </a:r>
          </a:p>
          <a:p>
            <a:pPr>
              <a:spcAft>
                <a:spcPts val="250"/>
              </a:spcAft>
              <a:defRPr sz="880">
                <a:solidFill>
                  <a:srgbClr val="E2E8F0"/>
                </a:solidFill>
                <a:latin typeface="Segoe UI"/>
              </a:defRPr>
            </a:pPr>
            <a:r>
              <a:t>• • Small touch surface caused 34% mis-tap rate among elderly voters.</a:t>
            </a:r>
          </a:p>
        </p:txBody>
      </p:sp>
      <p:sp>
        <p:nvSpPr>
          <p:cNvPr id="7" name="Rounded Rectangle 6"/>
          <p:cNvSpPr/>
          <p:nvPr/>
        </p:nvSpPr>
        <p:spPr>
          <a:xfrm>
            <a:off x="4389120" y="1645920"/>
            <a:ext cx="3383280" cy="4389120"/>
          </a:xfrm>
          <a:prstGeom prst="roundRect">
            <a:avLst/>
          </a:prstGeom>
          <a:solidFill>
            <a:srgbClr val="141D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F59E0B"/>
                </a:solidFill>
                <a:latin typeface="Consolas"/>
              </a:defRPr>
            </a:pPr>
            <a:r>
              <a:t>[CONCEPT B]</a:t>
            </a:r>
          </a:p>
          <a:p>
            <a:pPr>
              <a:spcAft>
                <a:spcPts val="400"/>
              </a:spcAft>
              <a:defRPr sz="1150" b="1">
                <a:solidFill>
                  <a:srgbClr val="FFFFFF"/>
                </a:solidFill>
                <a:latin typeface="Trebuchet MS"/>
              </a:defRPr>
            </a:pPr>
            <a:r>
              <a:t>Concept B: Fingerprint Add-on (Rejected)</a:t>
            </a:r>
          </a:p>
          <a:p>
            <a:pPr>
              <a:spcAft>
                <a:spcPts val="250"/>
              </a:spcAft>
              <a:defRPr sz="880">
                <a:solidFill>
                  <a:srgbClr val="E2E8F0"/>
                </a:solidFill>
                <a:latin typeface="Segoe UI"/>
              </a:defRPr>
            </a:pPr>
            <a:r>
              <a:t>• Design: Attaching fingerprint optical scanners to existing legacy EVM control units.</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Critical Flaws Identified in Testing:</a:t>
            </a:r>
          </a:p>
          <a:p>
            <a:pPr>
              <a:spcAft>
                <a:spcPts val="250"/>
              </a:spcAft>
              <a:defRPr sz="880">
                <a:solidFill>
                  <a:srgbClr val="E2E8F0"/>
                </a:solidFill>
                <a:latin typeface="Segoe UI"/>
              </a:defRPr>
            </a:pPr>
            <a:r>
              <a:t>• • High Failure Rate: Over 25% scan failures among rural agricultural workers and manual laborers.</a:t>
            </a:r>
          </a:p>
          <a:p>
            <a:pPr>
              <a:spcAft>
                <a:spcPts val="250"/>
              </a:spcAft>
              <a:defRPr sz="880">
                <a:solidFill>
                  <a:srgbClr val="E2E8F0"/>
                </a:solidFill>
                <a:latin typeface="Segoe UI"/>
              </a:defRPr>
            </a:pPr>
            <a:r>
              <a:t>• • Worn papillary ridges and dirt/ink build-up created severe queue bottlenecks.</a:t>
            </a:r>
          </a:p>
          <a:p>
            <a:pPr>
              <a:spcAft>
                <a:spcPts val="250"/>
              </a:spcAft>
              <a:defRPr sz="880">
                <a:solidFill>
                  <a:srgbClr val="E2E8F0"/>
                </a:solidFill>
                <a:latin typeface="Segoe UI"/>
              </a:defRPr>
            </a:pPr>
            <a:r>
              <a:t>• • Physical contact caused hygiene hesitation and required frequent lens cleaning.</a:t>
            </a:r>
          </a:p>
          <a:p>
            <a:pPr>
              <a:spcAft>
                <a:spcPts val="250"/>
              </a:spcAft>
              <a:defRPr sz="880">
                <a:solidFill>
                  <a:srgbClr val="E2E8F0"/>
                </a:solidFill>
                <a:latin typeface="Segoe UI"/>
              </a:defRPr>
            </a:pPr>
            <a:r>
              <a:t>• • Failed to provide audio guidance or help visually impaired citizens.</a:t>
            </a:r>
          </a:p>
        </p:txBody>
      </p:sp>
      <p:sp>
        <p:nvSpPr>
          <p:cNvPr id="8" name="Rounded Rectangle 7"/>
          <p:cNvSpPr/>
          <p:nvPr/>
        </p:nvSpPr>
        <p:spPr>
          <a:xfrm>
            <a:off x="8046720" y="1645920"/>
            <a:ext cx="338328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[WINNING DESIGN]</a:t>
            </a:r>
          </a:p>
          <a:p>
            <a:pPr>
              <a:spcAft>
                <a:spcPts val="400"/>
              </a:spcAft>
              <a:defRPr sz="1150" b="1">
                <a:solidFill>
                  <a:srgbClr val="FFFFFF"/>
                </a:solidFill>
                <a:latin typeface="Trebuchet MS"/>
              </a:defRPr>
            </a:pPr>
            <a:r>
              <a:t>Concept C: Integrated Kiosk (Winning)</a:t>
            </a:r>
          </a:p>
          <a:p>
            <a:pPr>
              <a:spcAft>
                <a:spcPts val="250"/>
              </a:spcAft>
              <a:defRPr sz="880">
                <a:solidFill>
                  <a:srgbClr val="E2E8F0"/>
                </a:solidFill>
                <a:latin typeface="Segoe UI"/>
              </a:defRPr>
            </a:pPr>
            <a:r>
              <a:t>• Design: Integrated 16:9 hooded landscape kiosk with eye-level near-IR iris scanner.</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Why Concept C Succeeded:</a:t>
            </a:r>
          </a:p>
          <a:p>
            <a:pPr>
              <a:spcAft>
                <a:spcPts val="250"/>
              </a:spcAft>
              <a:defRPr sz="880">
                <a:solidFill>
                  <a:srgbClr val="E2E8F0"/>
                </a:solidFill>
                <a:latin typeface="Segoe UI"/>
              </a:defRPr>
            </a:pPr>
            <a:r>
              <a:t>• • Touchless: Zero physical contact; near-IR light pierces cataracts and glasses.</a:t>
            </a:r>
          </a:p>
          <a:p>
            <a:pPr>
              <a:spcAft>
                <a:spcPts val="250"/>
              </a:spcAft>
              <a:defRPr sz="880">
                <a:solidFill>
                  <a:srgbClr val="E2E8F0"/>
                </a:solidFill>
                <a:latin typeface="Segoe UI"/>
              </a:defRPr>
            </a:pPr>
            <a:r>
              <a:t>• • Ergonomic Hood: Built-in canopy blocks glare and eliminates queue eavesdropping.</a:t>
            </a:r>
          </a:p>
          <a:p>
            <a:pPr>
              <a:spcAft>
                <a:spcPts val="250"/>
              </a:spcAft>
              <a:defRPr sz="880">
                <a:solidFill>
                  <a:srgbClr val="E2E8F0"/>
                </a:solidFill>
                <a:latin typeface="Segoe UI"/>
              </a:defRPr>
            </a:pPr>
            <a:r>
              <a:t>• • Multimodal Duality: Combines large 64px touch cards with directional voice IVR.</a:t>
            </a:r>
          </a:p>
          <a:p>
            <a:pPr>
              <a:spcAft>
                <a:spcPts val="250"/>
              </a:spcAft>
              <a:defRPr sz="880">
                <a:solidFill>
                  <a:srgbClr val="E2E8F0"/>
                </a:solidFill>
                <a:latin typeface="Segoe UI"/>
              </a:defRPr>
            </a:pPr>
            <a:r>
              <a:t>• • Built-in VVPAT 2.0: Sealed viewing window provides undeniable physical proof.</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HARDWARE DESIGN</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Hardware Ergonomics &amp; Universal Physical Form Factor</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16:9 Landscape display, eye-level dual near-IR optics, directional acoustic cones, and VVPAT printer.</a:t>
            </a:r>
          </a:p>
        </p:txBody>
      </p:sp>
      <p:sp>
        <p:nvSpPr>
          <p:cNvPr id="6" name="Rounded Rectangle 5"/>
          <p:cNvSpPr/>
          <p:nvPr/>
        </p:nvSpPr>
        <p:spPr>
          <a:xfrm>
            <a:off x="731520" y="1645920"/>
            <a:ext cx="6583680" cy="4389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[HARDWARE SPECS]</a:t>
            </a:r>
          </a:p>
          <a:p>
            <a:pPr>
              <a:spcAft>
                <a:spcPts val="400"/>
              </a:spcAft>
              <a:defRPr sz="1150" b="1">
                <a:solidFill>
                  <a:srgbClr val="FFFFFF"/>
                </a:solidFill>
                <a:latin typeface="Trebuchet MS"/>
              </a:defRPr>
            </a:pPr>
            <a:r>
              <a:t>Ergonomic Engineering Specifications</a:t>
            </a:r>
          </a:p>
          <a:p>
            <a:pPr>
              <a:spcAft>
                <a:spcPts val="250"/>
              </a:spcAft>
              <a:defRPr sz="880">
                <a:solidFill>
                  <a:srgbClr val="E2E8F0"/>
                </a:solidFill>
                <a:latin typeface="Segoe UI"/>
              </a:defRPr>
            </a:pPr>
            <a:r>
              <a:t>• • 16:9 Landscape Layout: 1920x1080 resolution accommodates wide candidate cards, bilingual typography, and side-by-side verification without scrolling.</a:t>
            </a:r>
          </a:p>
          <a:p>
            <a:pPr>
              <a:spcAft>
                <a:spcPts val="250"/>
              </a:spcAft>
              <a:defRPr sz="880">
                <a:solidFill>
                  <a:srgbClr val="E2E8F0"/>
                </a:solidFill>
                <a:latin typeface="Segoe UI"/>
              </a:defRPr>
            </a:pPr>
            <a:r>
              <a:t>• • Eye-Level Dual Iris Scanner: Mounted at 135cm height with ±25° motorized auto-tilt, effortlessly capturing voters standing or in wheelchairs.</a:t>
            </a:r>
          </a:p>
          <a:p>
            <a:pPr>
              <a:spcAft>
                <a:spcPts val="250"/>
              </a:spcAft>
              <a:defRPr sz="880">
                <a:solidFill>
                  <a:srgbClr val="E2E8F0"/>
                </a:solidFill>
                <a:latin typeface="Segoe UI"/>
              </a:defRPr>
            </a:pPr>
            <a:r>
              <a:t>• • Certified 100% Eye-Safe Near-IR: Wavelength of 700-900nm provides crisp iris crypt extraction without blinding glare, penetrating mature cataracts and thick spectacles.</a:t>
            </a:r>
          </a:p>
          <a:p>
            <a:pPr>
              <a:spcAft>
                <a:spcPts val="250"/>
              </a:spcAft>
              <a:defRPr sz="880">
                <a:solidFill>
                  <a:srgbClr val="E2E8F0"/>
                </a:solidFill>
                <a:latin typeface="Segoe UI"/>
              </a:defRPr>
            </a:pPr>
            <a:r>
              <a:t>• • Directional Acoustic Audio Cones: Stereo speakers calibrated with acoustic baffles funnel voice guidance strictly to the voter's ears, preventing booth sound leakage.</a:t>
            </a:r>
          </a:p>
          <a:p>
            <a:pPr>
              <a:spcAft>
                <a:spcPts val="250"/>
              </a:spcAft>
              <a:defRPr sz="880">
                <a:solidFill>
                  <a:srgbClr val="E2E8F0"/>
                </a:solidFill>
                <a:latin typeface="Segoe UI"/>
              </a:defRPr>
            </a:pPr>
            <a:r>
              <a:t>• • Integrated VVPAT 2.0 Chamber: Sealed glass viewing compartment displays printed thermal ballot slip for 7 seconds before cutting into the secure ballot box.</a:t>
            </a:r>
          </a:p>
          <a:p>
            <a:pPr>
              <a:spcAft>
                <a:spcPts val="250"/>
              </a:spcAft>
              <a:defRPr sz="880">
                <a:solidFill>
                  <a:srgbClr val="E2E8F0"/>
                </a:solidFill>
                <a:latin typeface="Segoe UI"/>
              </a:defRPr>
            </a:pPr>
            <a:r>
              <a:t>• • Ruggedized Civic Chasis: Die-cast aluminum and high-impact polycarbonate canopy resistant to dust, heat, and physical impacts during transport.</a:t>
            </a:r>
          </a:p>
        </p:txBody>
      </p:sp>
      <p:sp>
        <p:nvSpPr>
          <p:cNvPr id="7" name="Rounded Rectangle 6"/>
          <p:cNvSpPr/>
          <p:nvPr/>
        </p:nvSpPr>
        <p:spPr>
          <a:xfrm>
            <a:off x="7589520" y="1645920"/>
            <a:ext cx="3840480" cy="4389120"/>
          </a:xfrm>
          <a:prstGeom prst="roundRect">
            <a:avLst/>
          </a:prstGeom>
          <a:solidFill>
            <a:srgbClr val="141D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ris_scan_reticle.jpg"/>
          <p:cNvPicPr>
            <a:picLocks noChangeAspect="1"/>
          </p:cNvPicPr>
          <p:nvPr/>
        </p:nvPicPr>
        <p:blipFill>
          <a:blip r:embed="rId2"/>
          <a:stretch>
            <a:fillRect/>
          </a:stretch>
        </p:blipFill>
        <p:spPr>
          <a:xfrm>
            <a:off x="7662672" y="1719072"/>
            <a:ext cx="3694176" cy="3749039"/>
          </a:xfrm>
          <a:prstGeom prst="rect">
            <a:avLst/>
          </a:prstGeom>
        </p:spPr>
      </p:pic>
      <p:sp>
        <p:nvSpPr>
          <p:cNvPr id="9" name="TextBox 8"/>
          <p:cNvSpPr txBox="1"/>
          <p:nvPr/>
        </p:nvSpPr>
        <p:spPr>
          <a:xfrm>
            <a:off x="7680960" y="5440679"/>
            <a:ext cx="3657600" cy="502920"/>
          </a:xfrm>
          <a:prstGeom prst="rect">
            <a:avLst/>
          </a:prstGeom>
          <a:noFill/>
        </p:spPr>
        <p:txBody>
          <a:bodyPr wrap="square">
            <a:spAutoFit/>
          </a:bodyPr>
          <a:lstStyle/>
          <a:p>
            <a:pPr>
              <a:defRPr sz="950" b="1">
                <a:solidFill>
                  <a:srgbClr val="FFFFFF"/>
                </a:solidFill>
                <a:latin typeface="Trebuchet MS"/>
              </a:defRPr>
            </a:pPr>
            <a:r>
              <a:t>Near-IR Iris Reticle HUD</a:t>
            </a:r>
          </a:p>
          <a:p>
            <a:pPr>
              <a:defRPr sz="750">
                <a:solidFill>
                  <a:srgbClr val="94A3B8"/>
                </a:solidFill>
                <a:latin typeface="Segoe UI"/>
              </a:defRPr>
            </a:pPr>
            <a:r>
              <a:t>Concentric guide circles with real-time pupillary tracking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UI ARCHITECTURE</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Kiosk Screens 1–3: Onboarding &amp; Biometric Authentication</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Frictionless zero-card identification with clear visual and spoken feedback.</a:t>
            </a:r>
          </a:p>
        </p:txBody>
      </p:sp>
      <p:sp>
        <p:nvSpPr>
          <p:cNvPr id="6" name="Rounded Rectangle 5"/>
          <p:cNvSpPr/>
          <p:nvPr/>
        </p:nvSpPr>
        <p:spPr>
          <a:xfrm>
            <a:off x="731520" y="1645920"/>
            <a:ext cx="3383280" cy="4389120"/>
          </a:xfrm>
          <a:prstGeom prst="roundRect">
            <a:avLst/>
          </a:prstGeom>
          <a:solidFill>
            <a:srgbClr val="141D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creen_1_welcome.png"/>
          <p:cNvPicPr>
            <a:picLocks noChangeAspect="1"/>
          </p:cNvPicPr>
          <p:nvPr/>
        </p:nvPicPr>
        <p:blipFill>
          <a:blip r:embed="rId2"/>
          <a:stretch>
            <a:fillRect/>
          </a:stretch>
        </p:blipFill>
        <p:spPr>
          <a:xfrm>
            <a:off x="804672" y="1719072"/>
            <a:ext cx="3236976" cy="3749039"/>
          </a:xfrm>
          <a:prstGeom prst="rect">
            <a:avLst/>
          </a:prstGeom>
        </p:spPr>
      </p:pic>
      <p:sp>
        <p:nvSpPr>
          <p:cNvPr id="8" name="TextBox 7"/>
          <p:cNvSpPr txBox="1"/>
          <p:nvPr/>
        </p:nvSpPr>
        <p:spPr>
          <a:xfrm>
            <a:off x="822960" y="5440679"/>
            <a:ext cx="3200400" cy="502920"/>
          </a:xfrm>
          <a:prstGeom prst="rect">
            <a:avLst/>
          </a:prstGeom>
          <a:noFill/>
        </p:spPr>
        <p:txBody>
          <a:bodyPr wrap="square">
            <a:spAutoFit/>
          </a:bodyPr>
          <a:lstStyle/>
          <a:p>
            <a:pPr>
              <a:defRPr sz="950" b="1">
                <a:solidFill>
                  <a:srgbClr val="FFFFFF"/>
                </a:solidFill>
                <a:latin typeface="Trebuchet MS"/>
              </a:defRPr>
            </a:pPr>
            <a:r>
              <a:t>Screen 1: Welcome &amp; 9 Languages</a:t>
            </a:r>
          </a:p>
          <a:p>
            <a:pPr>
              <a:defRPr sz="750">
                <a:solidFill>
                  <a:srgbClr val="94A3B8"/>
                </a:solidFill>
                <a:latin typeface="Segoe UI"/>
              </a:defRPr>
            </a:pPr>
            <a:r>
              <a:t>High-contrast 9-language touch tiles with automatic spoken greeting in selected tongue.</a:t>
            </a:r>
          </a:p>
        </p:txBody>
      </p:sp>
      <p:sp>
        <p:nvSpPr>
          <p:cNvPr id="9" name="Rounded Rectangle 8"/>
          <p:cNvSpPr/>
          <p:nvPr/>
        </p:nvSpPr>
        <p:spPr>
          <a:xfrm>
            <a:off x="4389120" y="1645920"/>
            <a:ext cx="3383280" cy="4389120"/>
          </a:xfrm>
          <a:prstGeom prst="roundRect">
            <a:avLst/>
          </a:prstGeom>
          <a:solidFill>
            <a:srgbClr val="141D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creen_2_iris_scan.png"/>
          <p:cNvPicPr>
            <a:picLocks noChangeAspect="1"/>
          </p:cNvPicPr>
          <p:nvPr/>
        </p:nvPicPr>
        <p:blipFill>
          <a:blip r:embed="rId3"/>
          <a:stretch>
            <a:fillRect/>
          </a:stretch>
        </p:blipFill>
        <p:spPr>
          <a:xfrm>
            <a:off x="4462272" y="1719072"/>
            <a:ext cx="3236976" cy="3749039"/>
          </a:xfrm>
          <a:prstGeom prst="rect">
            <a:avLst/>
          </a:prstGeom>
        </p:spPr>
      </p:pic>
      <p:sp>
        <p:nvSpPr>
          <p:cNvPr id="11" name="TextBox 10"/>
          <p:cNvSpPr txBox="1"/>
          <p:nvPr/>
        </p:nvSpPr>
        <p:spPr>
          <a:xfrm>
            <a:off x="4480559" y="5440679"/>
            <a:ext cx="3200400" cy="502920"/>
          </a:xfrm>
          <a:prstGeom prst="rect">
            <a:avLst/>
          </a:prstGeom>
          <a:noFill/>
        </p:spPr>
        <p:txBody>
          <a:bodyPr wrap="square">
            <a:spAutoFit/>
          </a:bodyPr>
          <a:lstStyle/>
          <a:p>
            <a:pPr>
              <a:defRPr sz="950" b="1">
                <a:solidFill>
                  <a:srgbClr val="FFFFFF"/>
                </a:solidFill>
                <a:latin typeface="Trebuchet MS"/>
              </a:defRPr>
            </a:pPr>
            <a:r>
              <a:t>Screen 2: Iris Scan Reticle</a:t>
            </a:r>
          </a:p>
          <a:p>
            <a:pPr>
              <a:defRPr sz="750">
                <a:solidFill>
                  <a:srgbClr val="94A3B8"/>
                </a:solidFill>
                <a:latin typeface="Segoe UI"/>
              </a:defRPr>
            </a:pPr>
            <a:r>
              <a:t>Concentric HUD guide with real-time eye tracking and 3-attempt retry counter.</a:t>
            </a:r>
          </a:p>
        </p:txBody>
      </p:sp>
      <p:sp>
        <p:nvSpPr>
          <p:cNvPr id="12" name="Rounded Rectangle 11"/>
          <p:cNvSpPr/>
          <p:nvPr/>
        </p:nvSpPr>
        <p:spPr>
          <a:xfrm>
            <a:off x="8046720" y="1645920"/>
            <a:ext cx="3383280" cy="4389120"/>
          </a:xfrm>
          <a:prstGeom prst="roundRect">
            <a:avLst/>
          </a:prstGeom>
          <a:solidFill>
            <a:srgbClr val="141D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creen_3_verification.png"/>
          <p:cNvPicPr>
            <a:picLocks noChangeAspect="1"/>
          </p:cNvPicPr>
          <p:nvPr/>
        </p:nvPicPr>
        <p:blipFill>
          <a:blip r:embed="rId4"/>
          <a:stretch>
            <a:fillRect/>
          </a:stretch>
        </p:blipFill>
        <p:spPr>
          <a:xfrm>
            <a:off x="8119872" y="1719072"/>
            <a:ext cx="3236976" cy="3749039"/>
          </a:xfrm>
          <a:prstGeom prst="rect">
            <a:avLst/>
          </a:prstGeom>
        </p:spPr>
      </p:pic>
      <p:sp>
        <p:nvSpPr>
          <p:cNvPr id="14" name="TextBox 13"/>
          <p:cNvSpPr txBox="1"/>
          <p:nvPr/>
        </p:nvSpPr>
        <p:spPr>
          <a:xfrm>
            <a:off x="8138160" y="5440679"/>
            <a:ext cx="3200400" cy="502920"/>
          </a:xfrm>
          <a:prstGeom prst="rect">
            <a:avLst/>
          </a:prstGeom>
          <a:noFill/>
        </p:spPr>
        <p:txBody>
          <a:bodyPr wrap="square">
            <a:spAutoFit/>
          </a:bodyPr>
          <a:lstStyle/>
          <a:p>
            <a:pPr>
              <a:defRPr sz="950" b="1">
                <a:solidFill>
                  <a:srgbClr val="FFFFFF"/>
                </a:solidFill>
                <a:latin typeface="Trebuchet MS"/>
              </a:defRPr>
            </a:pPr>
            <a:r>
              <a:t>Screen 3: Identity Verification</a:t>
            </a:r>
          </a:p>
          <a:p>
            <a:pPr>
              <a:defRPr sz="750">
                <a:solidFill>
                  <a:srgbClr val="94A3B8"/>
                </a:solidFill>
                <a:latin typeface="Segoe UI"/>
              </a:defRPr>
            </a:pPr>
            <a:r>
              <a:t>Instant green match badge clears voter. Unverified cases routed calmly to officer desk.</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UI ARCHITECTURE</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Kiosk Screens 4–6: Ballot Casting &amp; Physical VVPAT</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Multimodal voting choice, 2-tier verbal confirmation, and instant thermal paper audit trail.</a:t>
            </a:r>
          </a:p>
        </p:txBody>
      </p:sp>
      <p:sp>
        <p:nvSpPr>
          <p:cNvPr id="6" name="Rounded Rectangle 5"/>
          <p:cNvSpPr/>
          <p:nvPr/>
        </p:nvSpPr>
        <p:spPr>
          <a:xfrm>
            <a:off x="731520" y="1645920"/>
            <a:ext cx="3383280" cy="4389120"/>
          </a:xfrm>
          <a:prstGeom prst="roundRect">
            <a:avLst/>
          </a:prstGeom>
          <a:solidFill>
            <a:srgbClr val="141D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creen_4_voting_method.png"/>
          <p:cNvPicPr>
            <a:picLocks noChangeAspect="1"/>
          </p:cNvPicPr>
          <p:nvPr/>
        </p:nvPicPr>
        <p:blipFill>
          <a:blip r:embed="rId2"/>
          <a:stretch>
            <a:fillRect/>
          </a:stretch>
        </p:blipFill>
        <p:spPr>
          <a:xfrm>
            <a:off x="804672" y="1719072"/>
            <a:ext cx="3236976" cy="3749039"/>
          </a:xfrm>
          <a:prstGeom prst="rect">
            <a:avLst/>
          </a:prstGeom>
        </p:spPr>
      </p:pic>
      <p:sp>
        <p:nvSpPr>
          <p:cNvPr id="8" name="TextBox 7"/>
          <p:cNvSpPr txBox="1"/>
          <p:nvPr/>
        </p:nvSpPr>
        <p:spPr>
          <a:xfrm>
            <a:off x="822960" y="5440679"/>
            <a:ext cx="3200400" cy="502920"/>
          </a:xfrm>
          <a:prstGeom prst="rect">
            <a:avLst/>
          </a:prstGeom>
          <a:noFill/>
        </p:spPr>
        <p:txBody>
          <a:bodyPr wrap="square">
            <a:spAutoFit/>
          </a:bodyPr>
          <a:lstStyle/>
          <a:p>
            <a:pPr>
              <a:defRPr sz="950" b="1">
                <a:solidFill>
                  <a:srgbClr val="FFFFFF"/>
                </a:solidFill>
                <a:latin typeface="Trebuchet MS"/>
              </a:defRPr>
            </a:pPr>
            <a:r>
              <a:t>Screen 4: Voting Method Selection</a:t>
            </a:r>
          </a:p>
          <a:p>
            <a:pPr>
              <a:defRPr sz="750">
                <a:solidFill>
                  <a:srgbClr val="94A3B8"/>
                </a:solidFill>
                <a:latin typeface="Segoe UI"/>
              </a:defRPr>
            </a:pPr>
            <a:r>
              <a:t>50/50 split screen offering Touch Screen tapping or Hands-Free Voice Command voting.</a:t>
            </a:r>
          </a:p>
        </p:txBody>
      </p:sp>
      <p:sp>
        <p:nvSpPr>
          <p:cNvPr id="9" name="Rounded Rectangle 8"/>
          <p:cNvSpPr/>
          <p:nvPr/>
        </p:nvSpPr>
        <p:spPr>
          <a:xfrm>
            <a:off x="4389120" y="1645920"/>
            <a:ext cx="3383280" cy="4389120"/>
          </a:xfrm>
          <a:prstGeom prst="roundRect">
            <a:avLst/>
          </a:prstGeom>
          <a:solidFill>
            <a:srgbClr val="141D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creen_5a_touch_ballot.png"/>
          <p:cNvPicPr>
            <a:picLocks noChangeAspect="1"/>
          </p:cNvPicPr>
          <p:nvPr/>
        </p:nvPicPr>
        <p:blipFill>
          <a:blip r:embed="rId3"/>
          <a:stretch>
            <a:fillRect/>
          </a:stretch>
        </p:blipFill>
        <p:spPr>
          <a:xfrm>
            <a:off x="4462272" y="1719072"/>
            <a:ext cx="3236976" cy="3749039"/>
          </a:xfrm>
          <a:prstGeom prst="rect">
            <a:avLst/>
          </a:prstGeom>
        </p:spPr>
      </p:pic>
      <p:sp>
        <p:nvSpPr>
          <p:cNvPr id="11" name="TextBox 10"/>
          <p:cNvSpPr txBox="1"/>
          <p:nvPr/>
        </p:nvSpPr>
        <p:spPr>
          <a:xfrm>
            <a:off x="4480559" y="5440679"/>
            <a:ext cx="3200400" cy="502920"/>
          </a:xfrm>
          <a:prstGeom prst="rect">
            <a:avLst/>
          </a:prstGeom>
          <a:noFill/>
        </p:spPr>
        <p:txBody>
          <a:bodyPr wrap="square">
            <a:spAutoFit/>
          </a:bodyPr>
          <a:lstStyle/>
          <a:p>
            <a:pPr>
              <a:defRPr sz="950" b="1">
                <a:solidFill>
                  <a:srgbClr val="FFFFFF"/>
                </a:solidFill>
                <a:latin typeface="Trebuchet MS"/>
              </a:defRPr>
            </a:pPr>
            <a:r>
              <a:t>Screen 5: Ballot Cast &amp; Confirmation</a:t>
            </a:r>
          </a:p>
          <a:p>
            <a:pPr>
              <a:defRPr sz="750">
                <a:solidFill>
                  <a:srgbClr val="94A3B8"/>
                </a:solidFill>
                <a:latin typeface="Segoe UI"/>
              </a:defRPr>
            </a:pPr>
            <a:r>
              <a:t>Large candidate cards with photo and party symbol; 2-tier confirmation modal speaks name aloud.</a:t>
            </a:r>
          </a:p>
        </p:txBody>
      </p:sp>
      <p:sp>
        <p:nvSpPr>
          <p:cNvPr id="12" name="Rounded Rectangle 11"/>
          <p:cNvSpPr/>
          <p:nvPr/>
        </p:nvSpPr>
        <p:spPr>
          <a:xfrm>
            <a:off x="8046720" y="1645920"/>
            <a:ext cx="3383280" cy="4389120"/>
          </a:xfrm>
          <a:prstGeom prst="roundRect">
            <a:avLst/>
          </a:prstGeom>
          <a:solidFill>
            <a:srgbClr val="141D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screen_6_vote_result.png"/>
          <p:cNvPicPr>
            <a:picLocks noChangeAspect="1"/>
          </p:cNvPicPr>
          <p:nvPr/>
        </p:nvPicPr>
        <p:blipFill>
          <a:blip r:embed="rId4"/>
          <a:stretch>
            <a:fillRect/>
          </a:stretch>
        </p:blipFill>
        <p:spPr>
          <a:xfrm>
            <a:off x="8119872" y="1719072"/>
            <a:ext cx="3236976" cy="3749039"/>
          </a:xfrm>
          <a:prstGeom prst="rect">
            <a:avLst/>
          </a:prstGeom>
        </p:spPr>
      </p:pic>
      <p:sp>
        <p:nvSpPr>
          <p:cNvPr id="14" name="TextBox 13"/>
          <p:cNvSpPr txBox="1"/>
          <p:nvPr/>
        </p:nvSpPr>
        <p:spPr>
          <a:xfrm>
            <a:off x="8138160" y="5440679"/>
            <a:ext cx="3200400" cy="502920"/>
          </a:xfrm>
          <a:prstGeom prst="rect">
            <a:avLst/>
          </a:prstGeom>
          <a:noFill/>
        </p:spPr>
        <p:txBody>
          <a:bodyPr wrap="square">
            <a:spAutoFit/>
          </a:bodyPr>
          <a:lstStyle/>
          <a:p>
            <a:pPr>
              <a:defRPr sz="950" b="1">
                <a:solidFill>
                  <a:srgbClr val="FFFFFF"/>
                </a:solidFill>
                <a:latin typeface="Trebuchet MS"/>
              </a:defRPr>
            </a:pPr>
            <a:r>
              <a:t>Screen 6: Vote Result &amp; VVPAT 2.0</a:t>
            </a:r>
          </a:p>
          <a:p>
            <a:pPr>
              <a:defRPr sz="750">
                <a:solidFill>
                  <a:srgbClr val="94A3B8"/>
                </a:solidFill>
                <a:latin typeface="Segoe UI"/>
              </a:defRPr>
            </a:pPr>
            <a:r>
              <a:t>Celebration checkmark confirms vote; physical thermal receipt drops behind glass; session zeroizes.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SERVICE BLUEPRINT</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Comprehensive 5-Tier Omnichannel Service Blueprint</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Synchronizing physical evidence, voter actions, onstage UI, backstage crypto, and officer support.</a:t>
            </a:r>
          </a:p>
        </p:txBody>
      </p:sp>
      <p:sp>
        <p:nvSpPr>
          <p:cNvPr id="6" name="Rounded Rectangle 5"/>
          <p:cNvSpPr/>
          <p:nvPr/>
        </p:nvSpPr>
        <p:spPr>
          <a:xfrm>
            <a:off x="731520" y="1645920"/>
            <a:ext cx="6858000" cy="4389120"/>
          </a:xfrm>
          <a:prstGeom prst="roundRect">
            <a:avLst/>
          </a:prstGeom>
          <a:solidFill>
            <a:srgbClr val="141D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ervice_blueprint_diagram.png"/>
          <p:cNvPicPr>
            <a:picLocks noChangeAspect="1"/>
          </p:cNvPicPr>
          <p:nvPr/>
        </p:nvPicPr>
        <p:blipFill>
          <a:blip r:embed="rId2"/>
          <a:stretch>
            <a:fillRect/>
          </a:stretch>
        </p:blipFill>
        <p:spPr>
          <a:xfrm>
            <a:off x="804672" y="1719072"/>
            <a:ext cx="6711696" cy="3749039"/>
          </a:xfrm>
          <a:prstGeom prst="rect">
            <a:avLst/>
          </a:prstGeom>
        </p:spPr>
      </p:pic>
      <p:sp>
        <p:nvSpPr>
          <p:cNvPr id="8" name="TextBox 7"/>
          <p:cNvSpPr txBox="1"/>
          <p:nvPr/>
        </p:nvSpPr>
        <p:spPr>
          <a:xfrm>
            <a:off x="822960" y="5440679"/>
            <a:ext cx="6675120" cy="502920"/>
          </a:xfrm>
          <a:prstGeom prst="rect">
            <a:avLst/>
          </a:prstGeom>
          <a:noFill/>
        </p:spPr>
        <p:txBody>
          <a:bodyPr wrap="square">
            <a:spAutoFit/>
          </a:bodyPr>
          <a:lstStyle/>
          <a:p>
            <a:pPr>
              <a:defRPr sz="950" b="1">
                <a:solidFill>
                  <a:srgbClr val="FFFFFF"/>
                </a:solidFill>
                <a:latin typeface="Trebuchet MS"/>
              </a:defRPr>
            </a:pPr>
            <a:r>
              <a:t>5-Tier Omnichannel Service Blueprint Diagram</a:t>
            </a:r>
          </a:p>
          <a:p>
            <a:pPr>
              <a:defRPr sz="750">
                <a:solidFill>
                  <a:srgbClr val="94A3B8"/>
                </a:solidFill>
                <a:latin typeface="Segoe UI"/>
              </a:defRPr>
            </a:pPr>
            <a:r>
              <a:t>End-to-end visualization of frontstage interactions and backstage cryptography.</a:t>
            </a:r>
          </a:p>
        </p:txBody>
      </p:sp>
      <p:sp>
        <p:nvSpPr>
          <p:cNvPr id="9" name="Rounded Rectangle 8"/>
          <p:cNvSpPr/>
          <p:nvPr/>
        </p:nvSpPr>
        <p:spPr>
          <a:xfrm>
            <a:off x="7863840" y="1645920"/>
            <a:ext cx="3566160" cy="4389120"/>
          </a:xfrm>
          <a:prstGeom prst="roundRect">
            <a:avLst/>
          </a:prstGeom>
          <a:solidFill>
            <a:srgbClr val="141D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A855F7"/>
                </a:solidFill>
                <a:latin typeface="Consolas"/>
              </a:defRPr>
            </a:pPr>
            <a:r>
              <a:t>[ARCHITECTURE]</a:t>
            </a:r>
          </a:p>
          <a:p>
            <a:pPr>
              <a:spcAft>
                <a:spcPts val="400"/>
              </a:spcAft>
              <a:defRPr sz="1150" b="1">
                <a:solidFill>
                  <a:srgbClr val="FFFFFF"/>
                </a:solidFill>
                <a:latin typeface="Trebuchet MS"/>
              </a:defRPr>
            </a:pPr>
            <a:r>
              <a:t>8 Architectural Blueprint Layers</a:t>
            </a:r>
          </a:p>
          <a:p>
            <a:pPr>
              <a:spcAft>
                <a:spcPts val="250"/>
              </a:spcAft>
              <a:defRPr sz="880">
                <a:solidFill>
                  <a:srgbClr val="E2E8F0"/>
                </a:solidFill>
                <a:latin typeface="Segoe UI"/>
              </a:defRPr>
            </a:pPr>
            <a:r>
              <a:t>• 1. Physical Evidence: Canopy, 16:9 screen, iris camera, directional sound, thermal printer.</a:t>
            </a:r>
          </a:p>
          <a:p>
            <a:pPr>
              <a:spcAft>
                <a:spcPts val="250"/>
              </a:spcAft>
              <a:defRPr sz="880">
                <a:solidFill>
                  <a:srgbClr val="E2E8F0"/>
                </a:solidFill>
                <a:latin typeface="Segoe UI"/>
              </a:defRPr>
            </a:pPr>
            <a:r>
              <a:t>• 2. Voter Actions: Arrival -&gt; Language -&gt; Eye alignment -&gt; Verification -&gt; Mode choice -&gt; Cast -&gt; Exit.</a:t>
            </a:r>
          </a:p>
          <a:p>
            <a:pPr>
              <a:spcAft>
                <a:spcPts val="250"/>
              </a:spcAft>
              <a:defRPr sz="880">
                <a:solidFill>
                  <a:srgbClr val="E2E8F0"/>
                </a:solidFill>
                <a:latin typeface="Segoe UI"/>
              </a:defRPr>
            </a:pPr>
            <a:r>
              <a:t>• 3. Line of Interaction: Divides citizen physical actions from onstage digital kiosk responses.</a:t>
            </a:r>
          </a:p>
          <a:p>
            <a:pPr>
              <a:spcAft>
                <a:spcPts val="250"/>
              </a:spcAft>
              <a:defRPr sz="880">
                <a:solidFill>
                  <a:srgbClr val="E2E8F0"/>
                </a:solidFill>
                <a:latin typeface="Segoe UI"/>
              </a:defRPr>
            </a:pPr>
            <a:r>
              <a:t>• 4. Onstage Touchpoints: 9-language tiles, HUD reticle, audio prompts, candidate cards, confirmation modal.</a:t>
            </a:r>
          </a:p>
          <a:p>
            <a:pPr>
              <a:spcAft>
                <a:spcPts val="250"/>
              </a:spcAft>
              <a:defRPr sz="880">
                <a:solidFill>
                  <a:srgbClr val="E2E8F0"/>
                </a:solidFill>
                <a:latin typeface="Segoe UI"/>
              </a:defRPr>
            </a:pPr>
            <a:r>
              <a:t>• 5. Line of Visibility: Conceals backend processing to eliminate voter cognitive anxiety.</a:t>
            </a:r>
          </a:p>
          <a:p>
            <a:pPr>
              <a:spcAft>
                <a:spcPts val="250"/>
              </a:spcAft>
              <a:defRPr sz="880">
                <a:solidFill>
                  <a:srgbClr val="E2E8F0"/>
                </a:solidFill>
                <a:latin typeface="Segoe UI"/>
              </a:defRPr>
            </a:pPr>
            <a:r>
              <a:t>• 6. Backstage Systems: Gabor wavelet extraction, encrypted roll match, SHA-256 ballot ledger commit.</a:t>
            </a:r>
          </a:p>
          <a:p>
            <a:pPr>
              <a:spcAft>
                <a:spcPts val="250"/>
              </a:spcAft>
              <a:defRPr sz="880">
                <a:solidFill>
                  <a:srgbClr val="E2E8F0"/>
                </a:solidFill>
                <a:latin typeface="Segoe UI"/>
              </a:defRPr>
            </a:pPr>
            <a:r>
              <a:t>• 7. Line of Internal Action: Connects software systems to human administrative workflows.</a:t>
            </a:r>
          </a:p>
          <a:p>
            <a:pPr>
              <a:spcAft>
                <a:spcPts val="250"/>
              </a:spcAft>
              <a:defRPr sz="880">
                <a:solidFill>
                  <a:srgbClr val="E2E8F0"/>
                </a:solidFill>
                <a:latin typeface="Segoe UI"/>
              </a:defRPr>
            </a:pPr>
            <a:r>
              <a:t>• 8. Support Staff: Polling officer auth, queue crowd pacing, 3-attempt exception resolution desk.</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USABILITY TESTING</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Usability Testing &amp; Empirical Validation (6 Participants)</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Stress-testing the kiosk in 65 dB simulated booth noise across diverse voter cohorts.</a:t>
            </a:r>
          </a:p>
        </p:txBody>
      </p:sp>
      <p:sp>
        <p:nvSpPr>
          <p:cNvPr id="6" name="Rounded Rectangle 5"/>
          <p:cNvSpPr/>
          <p:nvPr/>
        </p:nvSpPr>
        <p:spPr>
          <a:xfrm>
            <a:off x="731520" y="1645920"/>
            <a:ext cx="3383280" cy="4389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[TEST SETUP]</a:t>
            </a:r>
          </a:p>
          <a:p>
            <a:pPr>
              <a:spcAft>
                <a:spcPts val="400"/>
              </a:spcAft>
              <a:defRPr sz="1150" b="1">
                <a:solidFill>
                  <a:srgbClr val="FFFFFF"/>
                </a:solidFill>
                <a:latin typeface="Trebuchet MS"/>
              </a:defRPr>
            </a:pPr>
            <a:r>
              <a:t>Testing Protocol &amp; Cohort</a:t>
            </a:r>
          </a:p>
          <a:p>
            <a:pPr>
              <a:spcAft>
                <a:spcPts val="250"/>
              </a:spcAft>
              <a:defRPr sz="880">
                <a:solidFill>
                  <a:srgbClr val="E2E8F0"/>
                </a:solidFill>
                <a:latin typeface="Segoe UI"/>
              </a:defRPr>
            </a:pPr>
            <a:r>
              <a:t>• 6 diverse participants matching the 3 personas evaluated under real conditions:</a:t>
            </a:r>
          </a:p>
          <a:p>
            <a:pPr>
              <a:spcAft>
                <a:spcPts val="250"/>
              </a:spcAft>
              <a:defRPr sz="880">
                <a:solidFill>
                  <a:srgbClr val="E2E8F0"/>
                </a:solidFill>
                <a:latin typeface="Segoe UI"/>
              </a:defRPr>
            </a:pPr>
            <a:r>
              <a:t>• • 2 Rural elderly citizens (non-readers, Bhojpuri/Hindi).</a:t>
            </a:r>
          </a:p>
          <a:p>
            <a:pPr>
              <a:spcAft>
                <a:spcPts val="250"/>
              </a:spcAft>
              <a:defRPr sz="880">
                <a:solidFill>
                  <a:srgbClr val="E2E8F0"/>
                </a:solidFill>
                <a:latin typeface="Segoe UI"/>
              </a:defRPr>
            </a:pPr>
            <a:r>
              <a:t>• • 2 Urban first-time tech voters (English/Kannada).</a:t>
            </a:r>
          </a:p>
          <a:p>
            <a:pPr>
              <a:spcAft>
                <a:spcPts val="250"/>
              </a:spcAft>
              <a:defRPr sz="880">
                <a:solidFill>
                  <a:srgbClr val="E2E8F0"/>
                </a:solidFill>
                <a:latin typeface="Segoe UI"/>
              </a:defRPr>
            </a:pPr>
            <a:r>
              <a:t>• • 2 Visually impaired voters (screen-reader users).</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Environment Stress:</a:t>
            </a:r>
          </a:p>
          <a:p>
            <a:pPr>
              <a:spcAft>
                <a:spcPts val="250"/>
              </a:spcAft>
              <a:defRPr sz="880">
                <a:solidFill>
                  <a:srgbClr val="E2E8F0"/>
                </a:solidFill>
                <a:latin typeface="Segoe UI"/>
              </a:defRPr>
            </a:pPr>
            <a:r>
              <a:t>• • 65 dB ambient background polling booth noise.</a:t>
            </a:r>
          </a:p>
          <a:p>
            <a:pPr>
              <a:spcAft>
                <a:spcPts val="250"/>
              </a:spcAft>
              <a:defRPr sz="880">
                <a:solidFill>
                  <a:srgbClr val="E2E8F0"/>
                </a:solidFill>
                <a:latin typeface="Segoe UI"/>
              </a:defRPr>
            </a:pPr>
            <a:r>
              <a:t>• • Evaluated unassisted task completion and scan latency.</a:t>
            </a:r>
          </a:p>
        </p:txBody>
      </p:sp>
      <p:sp>
        <p:nvSpPr>
          <p:cNvPr id="7" name="Rounded Rectangle 6"/>
          <p:cNvSpPr/>
          <p:nvPr/>
        </p:nvSpPr>
        <p:spPr>
          <a:xfrm>
            <a:off x="4389120" y="1645920"/>
            <a:ext cx="338328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[METRICS]</a:t>
            </a:r>
          </a:p>
          <a:p>
            <a:pPr>
              <a:spcAft>
                <a:spcPts val="400"/>
              </a:spcAft>
              <a:defRPr sz="1150" b="1">
                <a:solidFill>
                  <a:srgbClr val="FFFFFF"/>
                </a:solidFill>
                <a:latin typeface="Trebuchet MS"/>
              </a:defRPr>
            </a:pPr>
            <a:r>
              <a:t>Quantitative Results</a:t>
            </a:r>
          </a:p>
          <a:p>
            <a:pPr>
              <a:spcAft>
                <a:spcPts val="250"/>
              </a:spcAft>
              <a:defRPr sz="880">
                <a:solidFill>
                  <a:srgbClr val="E2E8F0"/>
                </a:solidFill>
                <a:latin typeface="Segoe UI"/>
              </a:defRPr>
            </a:pPr>
            <a:r>
              <a:t>• 83.3% Unassisted Completion: 5 of 6 voters completed their vote with zero human assistance.</a:t>
            </a:r>
          </a:p>
          <a:p>
            <a:pPr>
              <a:spcAft>
                <a:spcPts val="250"/>
              </a:spcAft>
              <a:defRPr sz="880">
                <a:solidFill>
                  <a:srgbClr val="E2E8F0"/>
                </a:solidFill>
                <a:latin typeface="Segoe UI"/>
              </a:defRPr>
            </a:pPr>
            <a:r>
              <a:t>• 48 Seconds Average Time-on-Task (well below the 60-second design mandate).</a:t>
            </a:r>
          </a:p>
          <a:p>
            <a:pPr>
              <a:spcAft>
                <a:spcPts val="250"/>
              </a:spcAft>
              <a:defRPr sz="880">
                <a:solidFill>
                  <a:srgbClr val="E2E8F0"/>
                </a:solidFill>
                <a:latin typeface="Segoe UI"/>
              </a:defRPr>
            </a:pPr>
            <a:r>
              <a:t>• 1.8 Seconds Iris Match Latency: Near-instant authentication against encrypted local roll.</a:t>
            </a:r>
          </a:p>
          <a:p>
            <a:pPr>
              <a:spcAft>
                <a:spcPts val="250"/>
              </a:spcAft>
              <a:defRPr sz="880">
                <a:solidFill>
                  <a:srgbClr val="E2E8F0"/>
                </a:solidFill>
                <a:latin typeface="Segoe UI"/>
              </a:defRPr>
            </a:pPr>
            <a:r>
              <a:t>• 0% Ballot Mis-Taps: 2-tier modal completely eliminated accidental vote casts.</a:t>
            </a:r>
          </a:p>
          <a:p>
            <a:pPr>
              <a:spcAft>
                <a:spcPts val="250"/>
              </a:spcAft>
              <a:defRPr sz="880">
                <a:solidFill>
                  <a:srgbClr val="E2E8F0"/>
                </a:solidFill>
                <a:latin typeface="Segoe UI"/>
              </a:defRPr>
            </a:pPr>
            <a:r>
              <a:t>• 96% Voter Satisfaction Rating across all 6 participants.</a:t>
            </a:r>
          </a:p>
        </p:txBody>
      </p:sp>
      <p:sp>
        <p:nvSpPr>
          <p:cNvPr id="8" name="Rounded Rectangle 7"/>
          <p:cNvSpPr/>
          <p:nvPr/>
        </p:nvSpPr>
        <p:spPr>
          <a:xfrm>
            <a:off x="8046720" y="1645920"/>
            <a:ext cx="3383280" cy="4389120"/>
          </a:xfrm>
          <a:prstGeom prst="roundRect">
            <a:avLst/>
          </a:prstGeom>
          <a:solidFill>
            <a:srgbClr val="141D2F"/>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F59E0B"/>
                </a:solidFill>
                <a:latin typeface="Consolas"/>
              </a:defRPr>
            </a:pPr>
            <a:r>
              <a:t>[ITERATIVE ADJUSTMENTS]</a:t>
            </a:r>
          </a:p>
          <a:p>
            <a:pPr>
              <a:spcAft>
                <a:spcPts val="400"/>
              </a:spcAft>
              <a:defRPr sz="1150" b="1">
                <a:solidFill>
                  <a:srgbClr val="FFFFFF"/>
                </a:solidFill>
                <a:latin typeface="Trebuchet MS"/>
              </a:defRPr>
            </a:pPr>
            <a:r>
              <a:t>3 Critical UX Refinements</a:t>
            </a:r>
          </a:p>
          <a:p>
            <a:pPr>
              <a:spcAft>
                <a:spcPts val="250"/>
              </a:spcAft>
              <a:defRPr sz="880">
                <a:solidFill>
                  <a:srgbClr val="E2E8F0"/>
                </a:solidFill>
                <a:latin typeface="Segoe UI"/>
              </a:defRPr>
            </a:pPr>
            <a:r>
              <a:t>• 1. Audio Loudness (+4 dB Boost): Elderly voters missed initial audio cues in 65 dB noise; speaker output boosted.</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2. Speech Cadence (0.85x Speed): Non-readers found standard TTS too rapid; decreased speech speed by 15% for clarity.</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3. Illuminated Guide Arrow: Added physical glowing LED arrow above the camera mount to guide eye gaze instantly.</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PRODUCT MVPS</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3 Specialized Targeted Product MVPs: Scalable Solutions</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Modular sub-systems deployed for institutional, accessibility, and cryptographic pilots.</a:t>
            </a:r>
          </a:p>
        </p:txBody>
      </p:sp>
      <p:sp>
        <p:nvSpPr>
          <p:cNvPr id="6" name="Rounded Rectangle 5"/>
          <p:cNvSpPr/>
          <p:nvPr/>
        </p:nvSpPr>
        <p:spPr>
          <a:xfrm>
            <a:off x="731520" y="1645920"/>
            <a:ext cx="3383280" cy="4389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[MVP 1 • B2B PILOT]</a:t>
            </a:r>
          </a:p>
          <a:p>
            <a:pPr>
              <a:spcAft>
                <a:spcPts val="400"/>
              </a:spcAft>
              <a:defRPr sz="1150" b="1">
                <a:solidFill>
                  <a:srgbClr val="FFFFFF"/>
                </a:solidFill>
                <a:latin typeface="Trebuchet MS"/>
              </a:defRPr>
            </a:pPr>
            <a:r>
              <a:t>MVP 1: Verification Engine</a:t>
            </a:r>
          </a:p>
          <a:p>
            <a:pPr>
              <a:spcAft>
                <a:spcPts val="250"/>
              </a:spcAft>
              <a:defRPr sz="880">
                <a:solidFill>
                  <a:srgbClr val="E2E8F0"/>
                </a:solidFill>
                <a:latin typeface="Segoe UI"/>
              </a:defRPr>
            </a:pPr>
            <a:r>
              <a:t>• Focus: Security, Iris Accuracy &amp; Offline Verification.</a:t>
            </a:r>
          </a:p>
          <a:p>
            <a:pPr>
              <a:spcAft>
                <a:spcPts val="250"/>
              </a:spcAft>
              <a:defRPr sz="880">
                <a:solidFill>
                  <a:srgbClr val="E2E8F0"/>
                </a:solidFill>
                <a:latin typeface="Segoe UI"/>
              </a:defRPr>
            </a:pPr>
            <a:r>
              <a:t>• Target: B2B pilots, universities, unions, RWAs.</a:t>
            </a:r>
          </a:p>
          <a:p>
            <a:pPr>
              <a:spcAft>
                <a:spcPts val="250"/>
              </a:spcAft>
              <a:defRPr sz="880">
                <a:solidFill>
                  <a:srgbClr val="E2E8F0"/>
                </a:solidFill>
                <a:latin typeface="Segoe UI"/>
              </a:defRPr>
            </a:pPr>
            <a:r>
              <a:t>• • WebRTC / NIR camera iris scanner with concentric HUD.</a:t>
            </a:r>
          </a:p>
          <a:p>
            <a:pPr>
              <a:spcAft>
                <a:spcPts val="250"/>
              </a:spcAft>
              <a:defRPr sz="880">
                <a:solidFill>
                  <a:srgbClr val="E2E8F0"/>
                </a:solidFill>
                <a:latin typeface="Segoe UI"/>
              </a:defRPr>
            </a:pPr>
            <a:r>
              <a:t>• • Micro-pupillary liveness anti-spoofing check.</a:t>
            </a:r>
          </a:p>
          <a:p>
            <a:pPr>
              <a:spcAft>
                <a:spcPts val="250"/>
              </a:spcAft>
              <a:defRPr sz="880">
                <a:solidFill>
                  <a:srgbClr val="E2E8F0"/>
                </a:solidFill>
                <a:latin typeface="Segoe UI"/>
              </a:defRPr>
            </a:pPr>
            <a:r>
              <a:t>• • Instant Aadhaar / National ID mock sync.</a:t>
            </a:r>
          </a:p>
          <a:p>
            <a:pPr>
              <a:spcAft>
                <a:spcPts val="250"/>
              </a:spcAft>
              <a:defRPr sz="880">
                <a:solidFill>
                  <a:srgbClr val="E2E8F0"/>
                </a:solidFill>
                <a:latin typeface="Segoe UI"/>
              </a:defRPr>
            </a:pPr>
            <a:r>
              <a:t>• • Generates signed one-time EVM unlock pass.</a:t>
            </a:r>
          </a:p>
          <a:p>
            <a:pPr>
              <a:spcAft>
                <a:spcPts val="250"/>
              </a:spcAft>
              <a:defRPr sz="880">
                <a:solidFill>
                  <a:srgbClr val="E2E8F0"/>
                </a:solidFill>
                <a:latin typeface="Segoe UI"/>
              </a:defRPr>
            </a:pPr>
            <a:r>
              <a:t>• Metric: FAR &lt; 0.001%, verification latency &lt; 1.6s.</a:t>
            </a:r>
          </a:p>
        </p:txBody>
      </p:sp>
      <p:sp>
        <p:nvSpPr>
          <p:cNvPr id="7" name="Rounded Rectangle 6"/>
          <p:cNvSpPr/>
          <p:nvPr/>
        </p:nvSpPr>
        <p:spPr>
          <a:xfrm>
            <a:off x="4389120" y="1645920"/>
            <a:ext cx="338328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[MVP 2 • ASSISTIVE TECH]</a:t>
            </a:r>
          </a:p>
          <a:p>
            <a:pPr>
              <a:spcAft>
                <a:spcPts val="400"/>
              </a:spcAft>
              <a:defRPr sz="1150" b="1">
                <a:solidFill>
                  <a:srgbClr val="FFFFFF"/>
                </a:solidFill>
                <a:latin typeface="Trebuchet MS"/>
              </a:defRPr>
            </a:pPr>
            <a:r>
              <a:t>MVP 2: Voice Accessibility Kiosk</a:t>
            </a:r>
          </a:p>
          <a:p>
            <a:pPr>
              <a:spcAft>
                <a:spcPts val="250"/>
              </a:spcAft>
              <a:defRPr sz="880">
                <a:solidFill>
                  <a:srgbClr val="E2E8F0"/>
                </a:solidFill>
                <a:latin typeface="Segoe UI"/>
              </a:defRPr>
            </a:pPr>
            <a:r>
              <a:t>• Focus: Universal Accessibility &amp; Multimodal Voice UX.</a:t>
            </a:r>
          </a:p>
          <a:p>
            <a:pPr>
              <a:spcAft>
                <a:spcPts val="250"/>
              </a:spcAft>
              <a:defRPr sz="880">
                <a:solidFill>
                  <a:srgbClr val="E2E8F0"/>
                </a:solidFill>
                <a:latin typeface="Segoe UI"/>
              </a:defRPr>
            </a:pPr>
            <a:r>
              <a:t>• Target: Disability advocacy groups, NGOs, elder care.</a:t>
            </a:r>
          </a:p>
          <a:p>
            <a:pPr>
              <a:spcAft>
                <a:spcPts val="250"/>
              </a:spcAft>
              <a:defRPr sz="880">
                <a:solidFill>
                  <a:srgbClr val="E2E8F0"/>
                </a:solidFill>
                <a:latin typeface="Segoe UI"/>
              </a:defRPr>
            </a:pPr>
            <a:r>
              <a:t>• • Web Speech API in 9 Indian languages (STT &amp; TTS).</a:t>
            </a:r>
          </a:p>
          <a:p>
            <a:pPr>
              <a:spcAft>
                <a:spcPts val="250"/>
              </a:spcAft>
              <a:defRPr sz="880">
                <a:solidFill>
                  <a:srgbClr val="E2E8F0"/>
                </a:solidFill>
                <a:latin typeface="Segoe UI"/>
              </a:defRPr>
            </a:pPr>
            <a:r>
              <a:t>• • Interactive Voice Response (IVR) Yes/No confirmation loop.</a:t>
            </a:r>
          </a:p>
          <a:p>
            <a:pPr>
              <a:spcAft>
                <a:spcPts val="250"/>
              </a:spcAft>
              <a:defRPr sz="880">
                <a:solidFill>
                  <a:srgbClr val="E2E8F0"/>
                </a:solidFill>
                <a:latin typeface="Segoe UI"/>
              </a:defRPr>
            </a:pPr>
            <a:r>
              <a:t>• • WCAG AAA high-contrast Yellow/Black toggle.</a:t>
            </a:r>
          </a:p>
          <a:p>
            <a:pPr>
              <a:spcAft>
                <a:spcPts val="250"/>
              </a:spcAft>
              <a:defRPr sz="880">
                <a:solidFill>
                  <a:srgbClr val="E2E8F0"/>
                </a:solidFill>
                <a:latin typeface="Segoe UI"/>
              </a:defRPr>
            </a:pPr>
            <a:r>
              <a:t>• • Simulated 65 dB booth noise tolerance mode.</a:t>
            </a:r>
          </a:p>
          <a:p>
            <a:pPr>
              <a:spcAft>
                <a:spcPts val="250"/>
              </a:spcAft>
              <a:defRPr sz="880">
                <a:solidFill>
                  <a:srgbClr val="E2E8F0"/>
                </a:solidFill>
                <a:latin typeface="Segoe UI"/>
              </a:defRPr>
            </a:pPr>
            <a:r>
              <a:t>• Metric: Voice accuracy &gt; 97%, 0% confusion drop-off.</a:t>
            </a:r>
          </a:p>
        </p:txBody>
      </p:sp>
      <p:sp>
        <p:nvSpPr>
          <p:cNvPr id="8" name="Rounded Rectangle 7"/>
          <p:cNvSpPr/>
          <p:nvPr/>
        </p:nvSpPr>
        <p:spPr>
          <a:xfrm>
            <a:off x="8046720" y="1645920"/>
            <a:ext cx="3383280" cy="4389120"/>
          </a:xfrm>
          <a:prstGeom prst="roundRect">
            <a:avLst/>
          </a:prstGeom>
          <a:solidFill>
            <a:srgbClr val="141D2F"/>
          </a:solidFill>
          <a:ln w="12700">
            <a:solidFill>
              <a:srgbClr val="A855F7"/>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A855F7"/>
                </a:solidFill>
                <a:latin typeface="Consolas"/>
              </a:defRPr>
            </a:pPr>
            <a:r>
              <a:t>[MVP 3 • WEB3 TRUST]</a:t>
            </a:r>
          </a:p>
          <a:p>
            <a:pPr>
              <a:spcAft>
                <a:spcPts val="400"/>
              </a:spcAft>
              <a:defRPr sz="1150" b="1">
                <a:solidFill>
                  <a:srgbClr val="FFFFFF"/>
                </a:solidFill>
                <a:latin typeface="Trebuchet MS"/>
              </a:defRPr>
            </a:pPr>
            <a:r>
              <a:t>MVP 3: Decentralized Audit &amp; VVPAT</a:t>
            </a:r>
          </a:p>
          <a:p>
            <a:pPr>
              <a:spcAft>
                <a:spcPts val="250"/>
              </a:spcAft>
              <a:defRPr sz="880">
                <a:solidFill>
                  <a:srgbClr val="E2E8F0"/>
                </a:solidFill>
                <a:latin typeface="Segoe UI"/>
              </a:defRPr>
            </a:pPr>
            <a:r>
              <a:t>• Focus: Cryptographic Transparency &amp; Digital VVPAT.</a:t>
            </a:r>
          </a:p>
          <a:p>
            <a:pPr>
              <a:spcAft>
                <a:spcPts val="250"/>
              </a:spcAft>
              <a:defRPr sz="880">
                <a:solidFill>
                  <a:srgbClr val="E2E8F0"/>
                </a:solidFill>
                <a:latin typeface="Segoe UI"/>
              </a:defRPr>
            </a:pPr>
            <a:r>
              <a:t>• Target: DAO governance, online voting, observers.</a:t>
            </a:r>
          </a:p>
          <a:p>
            <a:pPr>
              <a:spcAft>
                <a:spcPts val="250"/>
              </a:spcAft>
              <a:defRPr sz="880">
                <a:solidFill>
                  <a:srgbClr val="E2E8F0"/>
                </a:solidFill>
                <a:latin typeface="Segoe UI"/>
              </a:defRPr>
            </a:pPr>
            <a:r>
              <a:t>• • Zero-Knowledge Proof (ZKP) vote anonymization.</a:t>
            </a:r>
          </a:p>
          <a:p>
            <a:pPr>
              <a:spcAft>
                <a:spcPts val="250"/>
              </a:spcAft>
              <a:defRPr sz="880">
                <a:solidFill>
                  <a:srgbClr val="E2E8F0"/>
                </a:solidFill>
                <a:latin typeface="Segoe UI"/>
              </a:defRPr>
            </a:pPr>
            <a:r>
              <a:t>• • Digital thermal VVPAT 2.0 receipt generator.</a:t>
            </a:r>
          </a:p>
          <a:p>
            <a:pPr>
              <a:spcAft>
                <a:spcPts val="250"/>
              </a:spcAft>
              <a:defRPr sz="880">
                <a:solidFill>
                  <a:srgbClr val="E2E8F0"/>
                </a:solidFill>
                <a:latin typeface="Segoe UI"/>
              </a:defRPr>
            </a:pPr>
            <a:r>
              <a:t>• • Public Citizen Verification Portal (TX Ref search).</a:t>
            </a:r>
          </a:p>
          <a:p>
            <a:pPr>
              <a:spcAft>
                <a:spcPts val="250"/>
              </a:spcAft>
              <a:defRPr sz="880">
                <a:solidFill>
                  <a:srgbClr val="E2E8F0"/>
                </a:solidFill>
                <a:latin typeface="Segoe UI"/>
              </a:defRPr>
            </a:pPr>
            <a:r>
              <a:t>• • Real-time streaming block explorer &amp; anomaly alerts.</a:t>
            </a:r>
          </a:p>
          <a:p>
            <a:pPr>
              <a:spcAft>
                <a:spcPts val="250"/>
              </a:spcAft>
              <a:defRPr sz="880">
                <a:solidFill>
                  <a:srgbClr val="E2E8F0"/>
                </a:solidFill>
                <a:latin typeface="Segoe UI"/>
              </a:defRPr>
            </a:pPr>
            <a:r>
              <a:t>• Metric: 100% audit accuracy, zero tamperability.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SECURITY ARCHITECTURE</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Security Architecture: Offline-First Cryptography &amp; UIDAI</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Air-gapped polling booth protection with mathematical secret-ballot guarantees.</a:t>
            </a:r>
          </a:p>
        </p:txBody>
      </p:sp>
      <p:sp>
        <p:nvSpPr>
          <p:cNvPr id="6" name="Rounded Rectangle 5"/>
          <p:cNvSpPr/>
          <p:nvPr/>
        </p:nvSpPr>
        <p:spPr>
          <a:xfrm>
            <a:off x="731520" y="1645920"/>
            <a:ext cx="6217920" cy="4389120"/>
          </a:xfrm>
          <a:prstGeom prst="roundRect">
            <a:avLst/>
          </a:prstGeom>
          <a:solidFill>
            <a:srgbClr val="141D2F"/>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system_architecture.png"/>
          <p:cNvPicPr>
            <a:picLocks noChangeAspect="1"/>
          </p:cNvPicPr>
          <p:nvPr/>
        </p:nvPicPr>
        <p:blipFill>
          <a:blip r:embed="rId2"/>
          <a:stretch>
            <a:fillRect/>
          </a:stretch>
        </p:blipFill>
        <p:spPr>
          <a:xfrm>
            <a:off x="804672" y="1719072"/>
            <a:ext cx="6071616" cy="3749039"/>
          </a:xfrm>
          <a:prstGeom prst="rect">
            <a:avLst/>
          </a:prstGeom>
        </p:spPr>
      </p:pic>
      <p:sp>
        <p:nvSpPr>
          <p:cNvPr id="8" name="TextBox 7"/>
          <p:cNvSpPr txBox="1"/>
          <p:nvPr/>
        </p:nvSpPr>
        <p:spPr>
          <a:xfrm>
            <a:off x="822960" y="5440679"/>
            <a:ext cx="6035040" cy="502920"/>
          </a:xfrm>
          <a:prstGeom prst="rect">
            <a:avLst/>
          </a:prstGeom>
          <a:noFill/>
        </p:spPr>
        <p:txBody>
          <a:bodyPr wrap="square">
            <a:spAutoFit/>
          </a:bodyPr>
          <a:lstStyle/>
          <a:p>
            <a:pPr>
              <a:defRPr sz="950" b="1">
                <a:solidFill>
                  <a:srgbClr val="FFFFFF"/>
                </a:solidFill>
                <a:latin typeface="Trebuchet MS"/>
              </a:defRPr>
            </a:pPr>
            <a:r>
              <a:t>Offline-First Cryptographic Architecture Diagram</a:t>
            </a:r>
          </a:p>
          <a:p>
            <a:pPr>
              <a:defRPr sz="750">
                <a:solidFill>
                  <a:srgbClr val="94A3B8"/>
                </a:solidFill>
                <a:latin typeface="Segoe UI"/>
              </a:defRPr>
            </a:pPr>
            <a:r>
              <a:t>Air-gapped kiosk connected via shielded local bus to iris sensor and VVPAT printer.</a:t>
            </a:r>
          </a:p>
        </p:txBody>
      </p:sp>
      <p:sp>
        <p:nvSpPr>
          <p:cNvPr id="9" name="Rounded Rectangle 8"/>
          <p:cNvSpPr/>
          <p:nvPr/>
        </p:nvSpPr>
        <p:spPr>
          <a:xfrm>
            <a:off x="7223760" y="1645920"/>
            <a:ext cx="420624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[CRYPTO MANDATE]</a:t>
            </a:r>
          </a:p>
          <a:p>
            <a:pPr>
              <a:spcAft>
                <a:spcPts val="400"/>
              </a:spcAft>
              <a:defRPr sz="1150" b="1">
                <a:solidFill>
                  <a:srgbClr val="FFFFFF"/>
                </a:solidFill>
                <a:latin typeface="Trebuchet MS"/>
              </a:defRPr>
            </a:pPr>
            <a:r>
              <a:t>Core Security Pillars</a:t>
            </a:r>
          </a:p>
          <a:p>
            <a:pPr>
              <a:spcAft>
                <a:spcPts val="250"/>
              </a:spcAft>
              <a:defRPr sz="880">
                <a:solidFill>
                  <a:srgbClr val="E2E8F0"/>
                </a:solidFill>
                <a:latin typeface="Segoe UI"/>
              </a:defRPr>
            </a:pPr>
            <a:r>
              <a:t>• • 100% Air-Gapped Operation: Zero internet, Wi-Fi, or Bluetooth connections. Immune to remote network attacks.</a:t>
            </a:r>
          </a:p>
          <a:p>
            <a:pPr>
              <a:spcAft>
                <a:spcPts val="250"/>
              </a:spcAft>
              <a:defRPr sz="880">
                <a:solidFill>
                  <a:srgbClr val="E2E8F0"/>
                </a:solidFill>
                <a:latin typeface="Segoe UI"/>
              </a:defRPr>
            </a:pPr>
            <a:r>
              <a:t>• • Ephemeral Biometric Zeroization: Iris templates matched against local encrypted electoral roll in RAM and wiped within 5 seconds.</a:t>
            </a:r>
          </a:p>
          <a:p>
            <a:pPr>
              <a:spcAft>
                <a:spcPts val="250"/>
              </a:spcAft>
              <a:defRPr sz="880">
                <a:solidFill>
                  <a:srgbClr val="E2E8F0"/>
                </a:solidFill>
                <a:latin typeface="Segoe UI"/>
              </a:defRPr>
            </a:pPr>
            <a:r>
              <a:t>• • Decoupled Blind Hashing: Vote choices are committed with cryptographic blind salts, ensuring identity can never be reverse-engineered.</a:t>
            </a:r>
          </a:p>
          <a:p>
            <a:pPr>
              <a:spcAft>
                <a:spcPts val="250"/>
              </a:spcAft>
              <a:defRPr sz="880">
                <a:solidFill>
                  <a:srgbClr val="E2E8F0"/>
                </a:solidFill>
                <a:latin typeface="Segoe UI"/>
              </a:defRPr>
            </a:pPr>
            <a:r>
              <a:t>• • Asymmetric SHA-256 Signing: Every ballot cast is signed by the booth's private hardware key and committed to a local tamper-proof ledger.</a:t>
            </a:r>
          </a:p>
          <a:p>
            <a:pPr>
              <a:spcAft>
                <a:spcPts val="250"/>
              </a:spcAft>
              <a:defRPr sz="880">
                <a:solidFill>
                  <a:srgbClr val="E2E8F0"/>
                </a:solidFill>
                <a:latin typeface="Segoe UI"/>
              </a:defRPr>
            </a:pPr>
            <a:r>
              <a:t>• • Physical Glass VVPAT 2.0: Paper slip drops into locked ballot box under joint custody of multi-party polling agents.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NATIONAL ROADMAP</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National Deployment Roadmap &amp; Democratic ROI</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4-phase nationwide rollout strategy across 1.2 million polling stations over 24 months.</a:t>
            </a:r>
          </a:p>
        </p:txBody>
      </p:sp>
      <p:sp>
        <p:nvSpPr>
          <p:cNvPr id="6" name="Rounded Rectangle 5"/>
          <p:cNvSpPr/>
          <p:nvPr/>
        </p:nvSpPr>
        <p:spPr>
          <a:xfrm>
            <a:off x="731520" y="1645920"/>
            <a:ext cx="5212080" cy="4389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[24-MONTH ROADMAP]</a:t>
            </a:r>
          </a:p>
          <a:p>
            <a:pPr>
              <a:spcAft>
                <a:spcPts val="400"/>
              </a:spcAft>
              <a:defRPr sz="1150" b="1">
                <a:solidFill>
                  <a:srgbClr val="FFFFFF"/>
                </a:solidFill>
                <a:latin typeface="Trebuchet MS"/>
              </a:defRPr>
            </a:pPr>
            <a:r>
              <a:t>4-Phase National Deployment Strategy</a:t>
            </a:r>
          </a:p>
          <a:p>
            <a:pPr>
              <a:spcAft>
                <a:spcPts val="250"/>
              </a:spcAft>
              <a:defRPr sz="880">
                <a:solidFill>
                  <a:srgbClr val="E2E8F0"/>
                </a:solidFill>
                <a:latin typeface="Segoe UI"/>
              </a:defRPr>
            </a:pPr>
            <a:r>
              <a:t>• • Phase 1: Lab &amp; Usability Validation (Months 1–3)</a:t>
            </a:r>
          </a:p>
          <a:p>
            <a:pPr>
              <a:spcAft>
                <a:spcPts val="250"/>
              </a:spcAft>
              <a:defRPr sz="880">
                <a:solidFill>
                  <a:srgbClr val="E2E8F0"/>
                </a:solidFill>
                <a:latin typeface="Segoe UI"/>
              </a:defRPr>
            </a:pPr>
            <a:r>
              <a:t>•   Prototype refinement, noise testing, accessibility audits, and Election Commission technical clearances.</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 Phase 2: District Civic Pilot (Months 4–7)</a:t>
            </a:r>
          </a:p>
          <a:p>
            <a:pPr>
              <a:spcAft>
                <a:spcPts val="250"/>
              </a:spcAft>
              <a:defRPr sz="880">
                <a:solidFill>
                  <a:srgbClr val="E2E8F0"/>
                </a:solidFill>
                <a:latin typeface="Segoe UI"/>
              </a:defRPr>
            </a:pPr>
            <a:r>
              <a:t>•   Deploy 500 kiosks in 1 pilot parliamentary constituency during municipal polls; evaluate field exception rates.</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 Phase 3: State Assembly Rollout (Months 8–14)</a:t>
            </a:r>
          </a:p>
          <a:p>
            <a:pPr>
              <a:spcAft>
                <a:spcPts val="250"/>
              </a:spcAft>
              <a:defRPr sz="880">
                <a:solidFill>
                  <a:srgbClr val="E2E8F0"/>
                </a:solidFill>
                <a:latin typeface="Segoe UI"/>
              </a:defRPr>
            </a:pPr>
            <a:r>
              <a:t>•   Expand to 10,000 booths across 2 diverse states; optimize 9 regional language TTS engines.</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 Phase 4: Pan-India Deployment (Months 15–24)</a:t>
            </a:r>
          </a:p>
          <a:p>
            <a:pPr>
              <a:spcAft>
                <a:spcPts val="250"/>
              </a:spcAft>
              <a:defRPr sz="880">
                <a:solidFill>
                  <a:srgbClr val="E2E8F0"/>
                </a:solidFill>
                <a:latin typeface="Segoe UI"/>
              </a:defRPr>
            </a:pPr>
            <a:r>
              <a:t>•   Scale to 1.2 million polling booths under Election Commission custody for general parliamentary elections.</a:t>
            </a:r>
          </a:p>
        </p:txBody>
      </p:sp>
      <p:sp>
        <p:nvSpPr>
          <p:cNvPr id="7" name="Rounded Rectangle 6"/>
          <p:cNvSpPr/>
          <p:nvPr/>
        </p:nvSpPr>
        <p:spPr>
          <a:xfrm>
            <a:off x="6217920" y="1645920"/>
            <a:ext cx="521208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[DEMOCRATIC ROI]</a:t>
            </a:r>
          </a:p>
          <a:p>
            <a:pPr>
              <a:spcAft>
                <a:spcPts val="400"/>
              </a:spcAft>
              <a:defRPr sz="1150" b="1">
                <a:solidFill>
                  <a:srgbClr val="FFFFFF"/>
                </a:solidFill>
                <a:latin typeface="Trebuchet MS"/>
              </a:defRPr>
            </a:pPr>
            <a:r>
              <a:t>Measurable Democratic ROI</a:t>
            </a:r>
          </a:p>
          <a:p>
            <a:pPr>
              <a:spcAft>
                <a:spcPts val="250"/>
              </a:spcAft>
              <a:defRPr sz="880">
                <a:solidFill>
                  <a:srgbClr val="E2E8F0"/>
                </a:solidFill>
                <a:latin typeface="Segoe UI"/>
              </a:defRPr>
            </a:pPr>
            <a:r>
              <a:t>• • ↓ 95% Voter Impersonation: Biometric liveness check completely stops bogus voting and duplicate slips.</a:t>
            </a:r>
          </a:p>
          <a:p>
            <a:pPr>
              <a:spcAft>
                <a:spcPts val="250"/>
              </a:spcAft>
              <a:defRPr sz="880">
                <a:solidFill>
                  <a:srgbClr val="E2E8F0"/>
                </a:solidFill>
                <a:latin typeface="Segoe UI"/>
              </a:defRPr>
            </a:pPr>
            <a:r>
              <a:t>• • 48 Seconds Average Voting Time: 500% booth capacity gain cuts 3-hour queues to under 30 minutes.</a:t>
            </a:r>
          </a:p>
          <a:p>
            <a:pPr>
              <a:spcAft>
                <a:spcPts val="250"/>
              </a:spcAft>
              <a:defRPr sz="880">
                <a:solidFill>
                  <a:srgbClr val="E2E8F0"/>
                </a:solidFill>
                <a:latin typeface="Segoe UI"/>
              </a:defRPr>
            </a:pPr>
            <a:r>
              <a:t>• • ↑ 92% Unassisted Disabled Usability: First time blind and illiterate voters cast ballots in complete secrecy.</a:t>
            </a:r>
          </a:p>
          <a:p>
            <a:pPr>
              <a:spcAft>
                <a:spcPts val="250"/>
              </a:spcAft>
              <a:defRPr sz="880">
                <a:solidFill>
                  <a:srgbClr val="E2E8F0"/>
                </a:solidFill>
                <a:latin typeface="Segoe UI"/>
              </a:defRPr>
            </a:pPr>
            <a:r>
              <a:t>• • 80% Reduction in Paper Waste: Eliminates hundreds of millions of single-use voter slips.</a:t>
            </a:r>
          </a:p>
          <a:p>
            <a:pPr>
              <a:spcAft>
                <a:spcPts val="250"/>
              </a:spcAft>
              <a:defRPr sz="880">
                <a:solidFill>
                  <a:srgbClr val="E2E8F0"/>
                </a:solidFill>
                <a:latin typeface="Segoe UI"/>
              </a:defRPr>
            </a:pPr>
            <a:r>
              <a:t>• • Reusable Civic Infrastructure: Hardware lasts 15+ years across national, state, and local civic elections.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32004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900" b="1">
                <a:solidFill>
                  <a:srgbClr val="00F2FE"/>
                </a:solidFill>
                <a:latin typeface="Trebuchet MS"/>
              </a:defRPr>
            </a:pPr>
            <a:r>
              <a:t>DEMOCRATIC VISION</a:t>
            </a:r>
          </a:p>
        </p:txBody>
      </p:sp>
      <p:sp>
        <p:nvSpPr>
          <p:cNvPr id="4" name="TextBox 3"/>
          <p:cNvSpPr txBox="1"/>
          <p:nvPr/>
        </p:nvSpPr>
        <p:spPr>
          <a:xfrm>
            <a:off x="731520" y="731520"/>
            <a:ext cx="10698480" cy="502920"/>
          </a:xfrm>
          <a:prstGeom prst="rect">
            <a:avLst/>
          </a:prstGeom>
          <a:noFill/>
        </p:spPr>
        <p:txBody>
          <a:bodyPr wrap="square">
            <a:spAutoFit/>
          </a:bodyPr>
          <a:lstStyle/>
          <a:p>
            <a:pPr>
              <a:defRPr sz="2000" b="1">
                <a:solidFill>
                  <a:srgbClr val="FFFFFF"/>
                </a:solidFill>
                <a:latin typeface="Trebuchet MS"/>
              </a:defRPr>
            </a:pPr>
            <a:r>
              <a:t>Conclusion: Reimagining Trust in Indian Civic Democracy</a:t>
            </a:r>
          </a:p>
        </p:txBody>
      </p:sp>
      <p:sp>
        <p:nvSpPr>
          <p:cNvPr id="5" name="TextBox 4"/>
          <p:cNvSpPr txBox="1"/>
          <p:nvPr/>
        </p:nvSpPr>
        <p:spPr>
          <a:xfrm>
            <a:off x="731520" y="1234440"/>
            <a:ext cx="10698480" cy="320040"/>
          </a:xfrm>
          <a:prstGeom prst="rect">
            <a:avLst/>
          </a:prstGeom>
          <a:noFill/>
        </p:spPr>
        <p:txBody>
          <a:bodyPr wrap="square">
            <a:spAutoFit/>
          </a:bodyPr>
          <a:lstStyle/>
          <a:p>
            <a:pPr>
              <a:defRPr sz="1000">
                <a:solidFill>
                  <a:srgbClr val="94A3B8"/>
                </a:solidFill>
                <a:latin typeface="Segoe UI"/>
              </a:defRPr>
            </a:pPr>
            <a:r>
              <a:t>Bridging human-centered ergonomics, multimodal inclusion, and cryptographic integrity.</a:t>
            </a:r>
          </a:p>
        </p:txBody>
      </p:sp>
      <p:sp>
        <p:nvSpPr>
          <p:cNvPr id="6" name="Rounded Rectangle 5"/>
          <p:cNvSpPr/>
          <p:nvPr/>
        </p:nvSpPr>
        <p:spPr>
          <a:xfrm>
            <a:off x="731520" y="1645920"/>
            <a:ext cx="5212080" cy="4389120"/>
          </a:xfrm>
          <a:prstGeom prst="roundRect">
            <a:avLst/>
          </a:prstGeom>
          <a:solidFill>
            <a:srgbClr val="141D2F"/>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10B981"/>
                </a:solidFill>
                <a:latin typeface="Consolas"/>
              </a:defRPr>
            </a:pPr>
            <a:r>
              <a:t>[CONCLUSION]</a:t>
            </a:r>
          </a:p>
          <a:p>
            <a:pPr>
              <a:spcAft>
                <a:spcPts val="400"/>
              </a:spcAft>
              <a:defRPr sz="1150" b="1">
                <a:solidFill>
                  <a:srgbClr val="FFFFFF"/>
                </a:solidFill>
                <a:latin typeface="Trebuchet MS"/>
              </a:defRPr>
            </a:pPr>
            <a:r>
              <a:t>Design Impact Summary</a:t>
            </a:r>
          </a:p>
          <a:p>
            <a:pPr>
              <a:spcAft>
                <a:spcPts val="250"/>
              </a:spcAft>
              <a:defRPr sz="880">
                <a:solidFill>
                  <a:srgbClr val="E2E8F0"/>
                </a:solidFill>
                <a:latin typeface="Segoe UI"/>
              </a:defRPr>
            </a:pPr>
            <a:r>
              <a:t>• Nayan Vote proves that advanced technology does not have to be intimidating or exclusive.</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By honoring the needs of non-reading grandmothers in rural Bihar, blind educators in Hyderabad, and fast-paced tech natives in Bengaluru, we have demonstrated that:</a:t>
            </a:r>
          </a:p>
          <a:p>
            <a:pPr>
              <a:spcAft>
                <a:spcPts val="250"/>
              </a:spcAft>
              <a:defRPr sz="880">
                <a:solidFill>
                  <a:srgbClr val="E2E8F0"/>
                </a:solidFill>
                <a:latin typeface="Segoe UI"/>
              </a:defRPr>
            </a:pPr>
            <a:r>
              <a:t>• • High security and radical accessibility can coexist seamlessly.</a:t>
            </a:r>
          </a:p>
          <a:p>
            <a:pPr>
              <a:spcAft>
                <a:spcPts val="250"/>
              </a:spcAft>
              <a:defRPr sz="880">
                <a:solidFill>
                  <a:srgbClr val="E2E8F0"/>
                </a:solidFill>
                <a:latin typeface="Segoe UI"/>
              </a:defRPr>
            </a:pPr>
            <a:r>
              <a:t>• • Biometrics can protect voter privacy rather than compromising it.</a:t>
            </a:r>
          </a:p>
          <a:p>
            <a:pPr>
              <a:spcAft>
                <a:spcPts val="250"/>
              </a:spcAft>
              <a:defRPr sz="880">
                <a:solidFill>
                  <a:srgbClr val="E2E8F0"/>
                </a:solidFill>
                <a:latin typeface="Segoe UI"/>
              </a:defRPr>
            </a:pPr>
            <a:r>
              <a:t>• • Digital efficiency is strengthened when anchored by physical paper proof.</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Nayan Vote sets a global benchmark for inclusive civic technology.</a:t>
            </a:r>
          </a:p>
        </p:txBody>
      </p:sp>
      <p:sp>
        <p:nvSpPr>
          <p:cNvPr id="7" name="Rounded Rectangle 6"/>
          <p:cNvSpPr/>
          <p:nvPr/>
        </p:nvSpPr>
        <p:spPr>
          <a:xfrm>
            <a:off x="6217920" y="1645920"/>
            <a:ext cx="5212080" cy="4389120"/>
          </a:xfrm>
          <a:prstGeom prst="roundRect">
            <a:avLst/>
          </a:prstGeom>
          <a:solidFill>
            <a:srgbClr val="141D2F"/>
          </a:solidFill>
          <a:ln w="12700">
            <a:solidFill>
              <a:srgbClr val="00F2FE"/>
            </a:solidFill>
          </a:ln>
        </p:spPr>
        <p:style>
          <a:lnRef idx="1">
            <a:schemeClr val="accent1"/>
          </a:lnRef>
          <a:fillRef idx="3">
            <a:schemeClr val="accent1"/>
          </a:fillRef>
          <a:effectRef idx="2">
            <a:schemeClr val="accent1"/>
          </a:effectRef>
          <a:fontRef idx="minor">
            <a:schemeClr val="lt1"/>
          </a:fontRef>
        </p:style>
        <p:txBody>
          <a:bodyPr rtlCol="0" anchor="ctr" wrap="square" tIns="137160" lIns="137160" rIns="137160" bIns="137160"/>
          <a:lstStyle/>
          <a:p>
            <a:pPr algn="ctr">
              <a:spcAft>
                <a:spcPts val="200"/>
              </a:spcAft>
              <a:defRPr sz="800" b="1">
                <a:solidFill>
                  <a:srgbClr val="00F2FE"/>
                </a:solidFill>
                <a:latin typeface="Consolas"/>
              </a:defRPr>
            </a:pPr>
            <a:r>
              <a:t>[CREDENTIALS]</a:t>
            </a:r>
          </a:p>
          <a:p>
            <a:pPr>
              <a:spcAft>
                <a:spcPts val="400"/>
              </a:spcAft>
              <a:defRPr sz="1150" b="1">
                <a:solidFill>
                  <a:srgbClr val="FFFFFF"/>
                </a:solidFill>
                <a:latin typeface="Trebuchet MS"/>
              </a:defRPr>
            </a:pPr>
            <a:r>
              <a:t>Project Links &amp; Designer Credentials</a:t>
            </a:r>
          </a:p>
          <a:p>
            <a:pPr>
              <a:spcAft>
                <a:spcPts val="250"/>
              </a:spcAft>
              <a:defRPr sz="880">
                <a:solidFill>
                  <a:srgbClr val="E2E8F0"/>
                </a:solidFill>
                <a:latin typeface="Segoe UI"/>
              </a:defRPr>
            </a:pPr>
            <a:r>
              <a:t>• Designer: Vivan Singh Rathore</a:t>
            </a:r>
          </a:p>
          <a:p>
            <a:pPr>
              <a:spcAft>
                <a:spcPts val="250"/>
              </a:spcAft>
              <a:defRPr sz="880">
                <a:solidFill>
                  <a:srgbClr val="E2E8F0"/>
                </a:solidFill>
                <a:latin typeface="Segoe UI"/>
              </a:defRPr>
            </a:pPr>
            <a:r>
              <a:t>• Degree: B.Des User Experience Design • DIT University</a:t>
            </a:r>
          </a:p>
          <a:p>
            <a:pPr>
              <a:spcAft>
                <a:spcPts val="250"/>
              </a:spcAft>
              <a:defRPr sz="880">
                <a:solidFill>
                  <a:srgbClr val="E2E8F0"/>
                </a:solidFill>
                <a:latin typeface="Segoe UI"/>
              </a:defRPr>
            </a:pPr>
            <a:r>
              <a:t>• Specialization: Cognitive Ergonomics, Civic Tech, Physical-Digital Systems</a:t>
            </a:r>
          </a:p>
          <a:p>
            <a:pPr>
              <a:spcAft>
                <a:spcPts val="250"/>
              </a:spcAft>
              <a:defRPr sz="880">
                <a:solidFill>
                  <a:srgbClr val="E2E8F0"/>
                </a:solidFill>
                <a:latin typeface="Segoe UI"/>
              </a:defRPr>
            </a:pPr>
            <a:r>
              <a:t>• </a:t>
            </a:r>
          </a:p>
          <a:p>
            <a:pPr>
              <a:spcAft>
                <a:spcPts val="250"/>
              </a:spcAft>
              <a:defRPr sz="880">
                <a:solidFill>
                  <a:srgbClr val="E2E8F0"/>
                </a:solidFill>
                <a:latin typeface="Segoe UI"/>
              </a:defRPr>
            </a:pPr>
            <a:r>
              <a:t>• Active Project Assets &amp; Prototypes:</a:t>
            </a:r>
          </a:p>
          <a:p>
            <a:pPr>
              <a:spcAft>
                <a:spcPts val="250"/>
              </a:spcAft>
              <a:defRPr sz="880">
                <a:solidFill>
                  <a:srgbClr val="E2E8F0"/>
                </a:solidFill>
                <a:latin typeface="Segoe UI"/>
              </a:defRPr>
            </a:pPr>
            <a:r>
              <a:t>• • Full Working Kiosk Prototype: http://localhost:3000/index.html</a:t>
            </a:r>
          </a:p>
          <a:p>
            <a:pPr>
              <a:spcAft>
                <a:spcPts val="250"/>
              </a:spcAft>
              <a:defRPr sz="880">
                <a:solidFill>
                  <a:srgbClr val="E2E8F0"/>
                </a:solidFill>
                <a:latin typeface="Segoe UI"/>
              </a:defRPr>
            </a:pPr>
            <a:r>
              <a:t>• • MVP 1: Verification Engine: http://localhost:3000/mvp-1-verification.html</a:t>
            </a:r>
          </a:p>
          <a:p>
            <a:pPr>
              <a:spcAft>
                <a:spcPts val="250"/>
              </a:spcAft>
              <a:defRPr sz="880">
                <a:solidFill>
                  <a:srgbClr val="E2E8F0"/>
                </a:solidFill>
                <a:latin typeface="Segoe UI"/>
              </a:defRPr>
            </a:pPr>
            <a:r>
              <a:t>• • MVP 2: Voice Accessibility Kiosk: http://localhost:3000/mvp-2-voice-kiosk.html</a:t>
            </a:r>
          </a:p>
          <a:p>
            <a:pPr>
              <a:spcAft>
                <a:spcPts val="250"/>
              </a:spcAft>
              <a:defRPr sz="880">
                <a:solidFill>
                  <a:srgbClr val="E2E8F0"/>
                </a:solidFill>
                <a:latin typeface="Segoe UI"/>
              </a:defRPr>
            </a:pPr>
            <a:r>
              <a:t>• • MVP 3: Decentralized Audit Platform: http://localhost:3000/mvp-3-audit-vvpat.html</a:t>
            </a:r>
          </a:p>
          <a:p>
            <a:pPr>
              <a:spcAft>
                <a:spcPts val="250"/>
              </a:spcAft>
              <a:defRPr sz="880">
                <a:solidFill>
                  <a:srgbClr val="E2E8F0"/>
                </a:solidFill>
                <a:latin typeface="Segoe UI"/>
              </a:defRPr>
            </a:pPr>
            <a:r>
              <a:t>• • Comprehensive Web Case Study: http://localhost:3000/case-study-nayan-vote.html</a:t>
            </a:r>
          </a:p>
          <a:p>
            <a:pPr>
              <a:spcAft>
                <a:spcPts val="250"/>
              </a:spcAft>
              <a:defRPr sz="880">
                <a:solidFill>
                  <a:srgbClr val="E2E8F0"/>
                </a:solidFill>
                <a:latin typeface="Segoe UI"/>
              </a:defRPr>
            </a:pPr>
            <a:r>
              <a:t>• • GitHub: https://github.com/vivansinghrathore09-creator/nayan-vote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